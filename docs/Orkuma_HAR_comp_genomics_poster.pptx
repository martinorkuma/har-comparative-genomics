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8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30175" y="-54864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A35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54864"/>
            <a:ext cx="11887200" cy="393954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 dirty="0">
                <a:solidFill>
                  <a:srgbClr val="FFFFFF"/>
                </a:solidFill>
                <a:latin typeface="Calibri"/>
              </a:rPr>
              <a:t>What makes a HAR a HAR? Interpretable ML on human-accelerated noncoding regions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20624"/>
            <a:ext cx="11887200" cy="224677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1100" b="0" i="0" dirty="0">
                <a:solidFill>
                  <a:srgbClr val="DDE6F0"/>
                </a:solidFill>
                <a:latin typeface="Calibri"/>
              </a:rPr>
              <a:t>Martin Orkuma  ·  MCB 540 – Functional Genomics, Spring 2026  ·  Central question: Which genomic features distinguish HARs from matched conserved non-accelerated elements?</a:t>
            </a:r>
            <a:endParaRPr lang="en-US" sz="1100" b="0" i="1" dirty="0">
              <a:solidFill>
                <a:srgbClr val="DDE6F0"/>
              </a:solidFill>
              <a:latin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82880" y="868680"/>
            <a:ext cx="3844442" cy="1883664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941832"/>
            <a:ext cx="64008" cy="292608"/>
          </a:xfrm>
          <a:prstGeom prst="rect">
            <a:avLst/>
          </a:prstGeom>
          <a:solidFill>
            <a:srgbClr val="CC4D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3192" y="923544"/>
            <a:ext cx="3542690" cy="329184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1300" b="1" dirty="0">
                <a:solidFill>
                  <a:srgbClr val="1A3552"/>
                </a:solidFill>
                <a:latin typeface="Calibri"/>
              </a:rPr>
              <a:t>1.  Background &amp;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280160"/>
            <a:ext cx="3551834" cy="141327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1" i="0" dirty="0">
                <a:solidFill>
                  <a:srgbClr val="CC4D4D"/>
                </a:solidFill>
                <a:latin typeface="Calibri"/>
              </a:rPr>
              <a:t>Human Accelerated Regions (HARs)</a:t>
            </a:r>
            <a:r>
              <a:rPr sz="10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lang="en-US" sz="1000" b="0" i="0" dirty="0">
                <a:solidFill>
                  <a:srgbClr val="1F1F1F"/>
                </a:solidFill>
                <a:latin typeface="Calibri"/>
              </a:rPr>
              <a:t>are conserved noncoding sequences that changed rapidly on the human lineage after divergence from chimpanzees (Keough et al., 2023)</a:t>
            </a:r>
            <a:r>
              <a:rPr sz="1000" b="0" i="0" dirty="0">
                <a:solidFill>
                  <a:srgbClr val="1F1F1F"/>
                </a:solidFill>
                <a:latin typeface="Calibri"/>
              </a:rPr>
              <a:t>. </a:t>
            </a:r>
            <a:r>
              <a:rPr lang="en-US" sz="1000" b="0" i="0" dirty="0">
                <a:solidFill>
                  <a:srgbClr val="1F1F1F"/>
                </a:solidFill>
                <a:latin typeface="Calibri"/>
              </a:rPr>
              <a:t>Many have been linked to neurodevelopment and cognition.</a:t>
            </a:r>
            <a:r>
              <a:rPr sz="1000" b="0" i="0" dirty="0">
                <a:solidFill>
                  <a:srgbClr val="1F1F1F"/>
                </a:solidFill>
                <a:latin typeface="Calibri"/>
              </a:rPr>
              <a:t>(</a:t>
            </a:r>
            <a:r>
              <a:rPr lang="en-US" sz="1000" b="0" i="0" dirty="0">
                <a:solidFill>
                  <a:srgbClr val="1F1F1F"/>
                </a:solidFill>
                <a:latin typeface="Calibri"/>
              </a:rPr>
              <a:t>Doan et al., 2016; Levchenko et al., 2018</a:t>
            </a:r>
            <a:r>
              <a:rPr sz="1000" b="0" i="0" dirty="0">
                <a:solidFill>
                  <a:srgbClr val="1F1F1F"/>
                </a:solidFill>
                <a:latin typeface="Calibri"/>
              </a:rPr>
              <a:t>).</a:t>
            </a:r>
            <a:r>
              <a:rPr lang="en-US" sz="1000" b="0" i="0" dirty="0">
                <a:solidFill>
                  <a:srgbClr val="1F1F1F"/>
                </a:solidFill>
                <a:latin typeface="Calibri"/>
              </a:rPr>
              <a:t> </a:t>
            </a:r>
            <a:endParaRPr sz="1000" b="0" i="0" dirty="0">
              <a:solidFill>
                <a:srgbClr val="1F1F1F"/>
              </a:solidFill>
              <a:latin typeface="Calibri"/>
            </a:endParaRPr>
          </a:p>
          <a:p>
            <a:pPr algn="l">
              <a:lnSpc>
                <a:spcPct val="118000"/>
              </a:lnSpc>
              <a:spcBef>
                <a:spcPts val="200"/>
              </a:spcBef>
            </a:pPr>
            <a:r>
              <a:rPr sz="400" b="0" i="0" dirty="0">
                <a:solidFill>
                  <a:srgbClr val="1F1F1F"/>
                </a:solidFill>
                <a:latin typeface="Calibri"/>
              </a:rPr>
              <a:t> </a:t>
            </a:r>
          </a:p>
          <a:p>
            <a:pPr algn="l">
              <a:lnSpc>
                <a:spcPct val="118000"/>
              </a:lnSpc>
            </a:pPr>
            <a:r>
              <a:rPr lang="en-US" sz="1000" b="1" i="0" dirty="0">
                <a:solidFill>
                  <a:srgbClr val="1F1F1F"/>
                </a:solidFill>
                <a:latin typeface="Calibri"/>
              </a:rPr>
              <a:t>Hypothesis: </a:t>
            </a:r>
            <a:r>
              <a:rPr lang="en-US" sz="1000" b="0" i="0" dirty="0">
                <a:solidFill>
                  <a:srgbClr val="1F1F1F"/>
                </a:solidFill>
                <a:latin typeface="Calibri"/>
              </a:rPr>
              <a:t>HARs occupy distinctive regulatory contexts relative to matched conserved non-accelerated elements.</a:t>
            </a:r>
            <a:endParaRPr sz="1000" b="0" i="0" dirty="0">
              <a:solidFill>
                <a:srgbClr val="1F1F1F"/>
              </a:solidFill>
              <a:latin typeface="Calibri"/>
            </a:endParaRPr>
          </a:p>
        </p:txBody>
      </p:sp>
      <p:sp>
        <p:nvSpPr>
          <p:cNvPr id="10" name="Rectangle 9"/>
          <p:cNvSpPr>
            <a:spLocks/>
          </p:cNvSpPr>
          <p:nvPr/>
        </p:nvSpPr>
        <p:spPr>
          <a:xfrm>
            <a:off x="182499" y="2733473"/>
            <a:ext cx="3844442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Rectangle 10"/>
          <p:cNvSpPr>
            <a:spLocks/>
          </p:cNvSpPr>
          <p:nvPr/>
        </p:nvSpPr>
        <p:spPr>
          <a:xfrm>
            <a:off x="274320" y="2937947"/>
            <a:ext cx="64008" cy="292608"/>
          </a:xfrm>
          <a:prstGeom prst="rect">
            <a:avLst/>
          </a:prstGeom>
          <a:solidFill>
            <a:srgbClr val="CC4D4D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393192" y="2910515"/>
            <a:ext cx="3542690" cy="329184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1300" b="1" dirty="0">
                <a:solidFill>
                  <a:srgbClr val="1A3552"/>
                </a:solidFill>
                <a:latin typeface="Calibri"/>
              </a:rPr>
              <a:t>2.  Approach</a:t>
            </a:r>
          </a:p>
        </p:txBody>
      </p:sp>
      <p:sp>
        <p:nvSpPr>
          <p:cNvPr id="13" name="Rounded Rectangle 12"/>
          <p:cNvSpPr>
            <a:spLocks/>
          </p:cNvSpPr>
          <p:nvPr/>
        </p:nvSpPr>
        <p:spPr>
          <a:xfrm>
            <a:off x="329184" y="3258123"/>
            <a:ext cx="819378" cy="365760"/>
          </a:xfrm>
          <a:prstGeom prst="roundRect">
            <a:avLst/>
          </a:prstGeom>
          <a:solidFill>
            <a:srgbClr val="CC4D4D"/>
          </a:solidFill>
          <a:ln>
            <a:noFill/>
          </a:ln>
          <a:effectLst/>
        </p:spPr>
        <p:txBody>
          <a:bodyPr lIns="18288" tIns="18288" rIns="18288" bIns="18288" rtlCol="0" anchor="ctr"/>
          <a:lstStyle/>
          <a:p>
            <a:pPr algn="ctr">
              <a:lnSpc>
                <a:spcPct val="100000"/>
              </a:lnSpc>
            </a:pPr>
            <a:r>
              <a:rPr sz="850" b="1" dirty="0">
                <a:solidFill>
                  <a:srgbClr val="FFFFFF"/>
                </a:solidFill>
                <a:latin typeface="Calibri"/>
              </a:rPr>
              <a:t>HAR set</a:t>
            </a:r>
          </a:p>
          <a:p>
            <a:pPr algn="ctr">
              <a:lnSpc>
                <a:spcPct val="100000"/>
              </a:lnSpc>
            </a:pPr>
            <a:r>
              <a:rPr sz="850" b="1" dirty="0">
                <a:solidFill>
                  <a:srgbClr val="FFFFFF"/>
                </a:solidFill>
                <a:latin typeface="Calibri"/>
              </a:rPr>
              <a:t>(Doan 2016)</a:t>
            </a:r>
          </a:p>
        </p:txBody>
      </p:sp>
      <p:sp>
        <p:nvSpPr>
          <p:cNvPr id="14" name="Right Arrow 13"/>
          <p:cNvSpPr>
            <a:spLocks/>
          </p:cNvSpPr>
          <p:nvPr/>
        </p:nvSpPr>
        <p:spPr>
          <a:xfrm>
            <a:off x="1153134" y="3413571"/>
            <a:ext cx="82296" cy="109728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>
            <a:spLocks/>
          </p:cNvSpPr>
          <p:nvPr/>
        </p:nvSpPr>
        <p:spPr>
          <a:xfrm>
            <a:off x="1240002" y="3258123"/>
            <a:ext cx="819378" cy="36576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txBody>
          <a:bodyPr lIns="18288" tIns="18288" rIns="18288" bIns="18288" rtlCol="0" anchor="ctr"/>
          <a:lstStyle/>
          <a:p>
            <a:pPr algn="ctr">
              <a:lnSpc>
                <a:spcPct val="100000"/>
              </a:lnSpc>
            </a:pPr>
            <a:r>
              <a:rPr sz="850" b="1" dirty="0">
                <a:solidFill>
                  <a:srgbClr val="FFFFFF"/>
                </a:solidFill>
                <a:latin typeface="Calibri"/>
              </a:rPr>
              <a:t>Matched</a:t>
            </a:r>
          </a:p>
          <a:p>
            <a:pPr algn="ctr">
              <a:lnSpc>
                <a:spcPct val="100000"/>
              </a:lnSpc>
            </a:pPr>
            <a:r>
              <a:rPr sz="850" b="1" dirty="0">
                <a:solidFill>
                  <a:srgbClr val="FFFFFF"/>
                </a:solidFill>
                <a:latin typeface="Calibri"/>
              </a:rPr>
              <a:t>CNEs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063953" y="3413571"/>
            <a:ext cx="82296" cy="109728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>
            <a:spLocks/>
          </p:cNvSpPr>
          <p:nvPr/>
        </p:nvSpPr>
        <p:spPr>
          <a:xfrm>
            <a:off x="2150821" y="3258123"/>
            <a:ext cx="819378" cy="365760"/>
          </a:xfrm>
          <a:prstGeom prst="roundRect">
            <a:avLst/>
          </a:prstGeom>
          <a:solidFill>
            <a:srgbClr val="1A3552"/>
          </a:solidFill>
          <a:ln>
            <a:noFill/>
          </a:ln>
          <a:effectLst/>
        </p:spPr>
        <p:txBody>
          <a:bodyPr lIns="18288" tIns="18288" rIns="18288" bIns="18288" rtlCol="0" anchor="ctr"/>
          <a:lstStyle/>
          <a:p>
            <a:pPr algn="ctr">
              <a:lnSpc>
                <a:spcPct val="100000"/>
              </a:lnSpc>
            </a:pPr>
            <a:r>
              <a:rPr sz="850" b="1" dirty="0">
                <a:solidFill>
                  <a:srgbClr val="FFFFFF"/>
                </a:solidFill>
                <a:latin typeface="Calibri"/>
              </a:rPr>
              <a:t>7 features</a:t>
            </a:r>
          </a:p>
          <a:p>
            <a:pPr algn="ctr">
              <a:lnSpc>
                <a:spcPct val="100000"/>
              </a:lnSpc>
            </a:pPr>
            <a:r>
              <a:rPr sz="850" b="1" dirty="0">
                <a:solidFill>
                  <a:srgbClr val="FFFFFF"/>
                </a:solidFill>
                <a:latin typeface="Calibri"/>
              </a:rPr>
              <a:t>→ LR + RF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974771" y="3413571"/>
            <a:ext cx="82296" cy="109728"/>
          </a:xfrm>
          <a:prstGeom prst="rightArrow">
            <a:avLst/>
          </a:prstGeom>
          <a:solidFill>
            <a:srgbClr val="555555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>
            <a:spLocks/>
          </p:cNvSpPr>
          <p:nvPr/>
        </p:nvSpPr>
        <p:spPr>
          <a:xfrm>
            <a:off x="3061639" y="3258123"/>
            <a:ext cx="819378" cy="365760"/>
          </a:xfrm>
          <a:prstGeom prst="roundRect">
            <a:avLst/>
          </a:prstGeom>
          <a:solidFill>
            <a:srgbClr val="D4A017"/>
          </a:solidFill>
          <a:ln>
            <a:noFill/>
          </a:ln>
          <a:effectLst/>
        </p:spPr>
        <p:txBody>
          <a:bodyPr lIns="18288" tIns="18288" rIns="18288" bIns="18288" rtlCol="0" anchor="ctr"/>
          <a:lstStyle/>
          <a:p>
            <a:pPr algn="ctr">
              <a:lnSpc>
                <a:spcPct val="100000"/>
              </a:lnSpc>
            </a:pPr>
            <a:r>
              <a:rPr sz="850" b="1" dirty="0">
                <a:solidFill>
                  <a:srgbClr val="FFFFFF"/>
                </a:solidFill>
                <a:latin typeface="Calibri"/>
              </a:rPr>
              <a:t>SHAP</a:t>
            </a:r>
          </a:p>
          <a:p>
            <a:pPr algn="ctr">
              <a:lnSpc>
                <a:spcPct val="100000"/>
              </a:lnSpc>
            </a:pPr>
            <a:r>
              <a:rPr sz="850" b="1" dirty="0">
                <a:solidFill>
                  <a:srgbClr val="FFFFFF"/>
                </a:solidFill>
                <a:latin typeface="Calibri"/>
              </a:rPr>
              <a:t>ranking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319159" y="3607308"/>
            <a:ext cx="3551834" cy="798745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sz="850" dirty="0">
                <a:solidFill>
                  <a:srgbClr val="555555"/>
                </a:solidFill>
                <a:latin typeface="Calibri"/>
              </a:rPr>
              <a:t>Dataset: 2,734 HARs vs 7,473 matched CNEs </a:t>
            </a:r>
          </a:p>
          <a:p>
            <a:pPr algn="l">
              <a:lnSpc>
                <a:spcPct val="115000"/>
              </a:lnSpc>
            </a:pPr>
            <a:r>
              <a:rPr lang="en-US" sz="850" dirty="0">
                <a:solidFill>
                  <a:srgbClr val="555555"/>
                </a:solidFill>
                <a:latin typeface="Calibri"/>
              </a:rPr>
              <a:t>Controls: length ±25%, mean </a:t>
            </a:r>
            <a:r>
              <a:rPr lang="en-US" sz="850" dirty="0" err="1">
                <a:solidFill>
                  <a:srgbClr val="555555"/>
                </a:solidFill>
                <a:latin typeface="Calibri"/>
              </a:rPr>
              <a:t>phastCons</a:t>
            </a:r>
            <a:r>
              <a:rPr lang="en-US" sz="850" dirty="0">
                <a:solidFill>
                  <a:srgbClr val="555555"/>
                </a:solidFill>
                <a:latin typeface="Calibri"/>
              </a:rPr>
              <a:t> ±0.05, ±10 kb buffer, coding exons excluded </a:t>
            </a:r>
          </a:p>
          <a:p>
            <a:pPr algn="l">
              <a:lnSpc>
                <a:spcPct val="115000"/>
              </a:lnSpc>
            </a:pPr>
            <a:r>
              <a:rPr lang="en-US" sz="850" dirty="0">
                <a:solidFill>
                  <a:srgbClr val="555555"/>
                </a:solidFill>
                <a:latin typeface="Calibri"/>
              </a:rPr>
              <a:t>Models: logistic regression baseline + random forest, 5-fold stratified CV</a:t>
            </a:r>
          </a:p>
          <a:p>
            <a:pPr algn="l">
              <a:lnSpc>
                <a:spcPct val="115000"/>
              </a:lnSpc>
            </a:pPr>
            <a:endParaRPr sz="850" b="0" i="0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82880" y="5802630"/>
            <a:ext cx="3838040" cy="781050"/>
          </a:xfrm>
          <a:prstGeom prst="rect">
            <a:avLst/>
          </a:prstGeom>
          <a:solidFill>
            <a:srgbClr val="F4F1EB"/>
          </a:solidFill>
          <a:ln>
            <a:noFill/>
          </a:ln>
          <a:effectLst/>
        </p:spPr>
        <p:txBody>
          <a:bodyPr numCol="2" rtlCol="0" anchor="ctr"/>
          <a:lstStyle/>
          <a:p>
            <a:pPr algn="ctr"/>
            <a:r>
              <a:rPr lang="fr-FR" sz="1050" dirty="0"/>
              <a:t>References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900" dirty="0"/>
              <a:t>Boyd et al. 2015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900" dirty="0"/>
              <a:t>Capra et al. 2013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900" dirty="0"/>
              <a:t>Cui et al. 2025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9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900" dirty="0"/>
              <a:t>Doan et al. 2016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900" dirty="0"/>
              <a:t>Keough et al. 2023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900" dirty="0"/>
              <a:t>Pollard et al. 2006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fr-FR" sz="900" dirty="0"/>
          </a:p>
        </p:txBody>
      </p:sp>
      <p:sp>
        <p:nvSpPr>
          <p:cNvPr id="28" name="Rectangle 27"/>
          <p:cNvSpPr/>
          <p:nvPr/>
        </p:nvSpPr>
        <p:spPr>
          <a:xfrm>
            <a:off x="4173626" y="868680"/>
            <a:ext cx="3844442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265066" y="941832"/>
            <a:ext cx="64008" cy="292608"/>
          </a:xfrm>
          <a:prstGeom prst="rect">
            <a:avLst/>
          </a:prstGeom>
          <a:solidFill>
            <a:srgbClr val="1A35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83939" y="923544"/>
            <a:ext cx="3496970" cy="338554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marL="174625" indent="-174625"/>
            <a:r>
              <a:rPr sz="1100" b="1" dirty="0">
                <a:solidFill>
                  <a:srgbClr val="1A3552"/>
                </a:solidFill>
                <a:latin typeface="Calibri"/>
              </a:rPr>
              <a:t>3. </a:t>
            </a:r>
            <a:r>
              <a:rPr lang="en-US" sz="1100" b="1" dirty="0">
                <a:solidFill>
                  <a:srgbClr val="1A3552"/>
                </a:solidFill>
                <a:latin typeface="Calibri"/>
              </a:rPr>
              <a:t>Result 1: </a:t>
            </a:r>
            <a:r>
              <a:rPr lang="en-US" sz="1100" b="1" dirty="0">
                <a:solidFill>
                  <a:schemeClr val="tx2"/>
                </a:solidFill>
              </a:rPr>
              <a:t>HARs are distinguished by conservation, GC content, and regulatory overlap</a:t>
            </a:r>
            <a:endParaRPr sz="1100" b="1" dirty="0">
              <a:solidFill>
                <a:schemeClr val="tx2"/>
              </a:solidFill>
              <a:latin typeface="Calibri"/>
            </a:endParaRPr>
          </a:p>
        </p:txBody>
      </p:sp>
      <p:pic>
        <p:nvPicPr>
          <p:cNvPr id="31" name="Picture 30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3526" y="1306287"/>
            <a:ext cx="2424643" cy="145243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329074" y="2779776"/>
            <a:ext cx="3551834" cy="4114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 dirty="0">
                <a:solidFill>
                  <a:srgbClr val="1A3552"/>
                </a:solidFill>
                <a:latin typeface="Calibri"/>
              </a:rPr>
              <a:t>Top features:  </a:t>
            </a:r>
            <a:r>
              <a:rPr sz="950" b="0" i="0" dirty="0">
                <a:solidFill>
                  <a:srgbClr val="1F1F1F"/>
                </a:solidFill>
                <a:latin typeface="Calibri"/>
              </a:rPr>
              <a:t>(1) lower </a:t>
            </a:r>
            <a:r>
              <a:rPr sz="950" b="0" i="0" dirty="0" err="1">
                <a:solidFill>
                  <a:srgbClr val="1F1F1F"/>
                </a:solidFill>
                <a:latin typeface="Calibri"/>
              </a:rPr>
              <a:t>phastCons</a:t>
            </a:r>
            <a:r>
              <a:rPr sz="950" b="0" i="0" dirty="0">
                <a:solidFill>
                  <a:srgbClr val="1F1F1F"/>
                </a:solidFill>
                <a:latin typeface="Calibri"/>
              </a:rPr>
              <a:t> → HAR; (2) </a:t>
            </a:r>
            <a:r>
              <a:rPr sz="950" b="1" i="1" dirty="0">
                <a:solidFill>
                  <a:srgbClr val="CC4D4D"/>
                </a:solidFill>
                <a:latin typeface="Calibri"/>
              </a:rPr>
              <a:t>farther</a:t>
            </a:r>
            <a:r>
              <a:rPr sz="950" b="0" i="0" dirty="0">
                <a:solidFill>
                  <a:srgbClr val="1F1F1F"/>
                </a:solidFill>
                <a:latin typeface="Calibri"/>
              </a:rPr>
              <a:t> from brain-expressed TSS → HAR; (3) higher GC; (4) </a:t>
            </a:r>
            <a:r>
              <a:rPr sz="950" b="0" i="0" dirty="0" err="1">
                <a:solidFill>
                  <a:srgbClr val="1F1F1F"/>
                </a:solidFill>
                <a:latin typeface="Calibri"/>
              </a:rPr>
              <a:t>cCRE</a:t>
            </a:r>
            <a:r>
              <a:rPr sz="950" b="0" i="0" dirty="0">
                <a:solidFill>
                  <a:srgbClr val="1F1F1F"/>
                </a:solidFill>
                <a:latin typeface="Calibri"/>
              </a:rPr>
              <a:t> overlap → HAR (HAR 27% vs CNE 17%).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73626" y="3383279"/>
            <a:ext cx="3844442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265066" y="3456432"/>
            <a:ext cx="64008" cy="292608"/>
          </a:xfrm>
          <a:prstGeom prst="rect">
            <a:avLst/>
          </a:prstGeom>
          <a:solidFill>
            <a:srgbClr val="1A35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83938" y="3438144"/>
            <a:ext cx="3542690" cy="329184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1200" b="1">
                <a:solidFill>
                  <a:srgbClr val="1A3552"/>
                </a:solidFill>
                <a:latin typeface="Calibri"/>
              </a:rPr>
              <a:t>4.  Per-feature distributions  (HAR vs matched CNE)</a:t>
            </a:r>
          </a:p>
        </p:txBody>
      </p:sp>
      <p:pic>
        <p:nvPicPr>
          <p:cNvPr id="36" name="Picture 35" descr="feature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5954" y="3749039"/>
            <a:ext cx="3139786" cy="1499616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4173626" y="5394959"/>
            <a:ext cx="3844442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265066" y="5449823"/>
            <a:ext cx="64008" cy="292608"/>
          </a:xfrm>
          <a:prstGeom prst="rect">
            <a:avLst/>
          </a:prstGeom>
          <a:solidFill>
            <a:srgbClr val="1A35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83938" y="5431536"/>
            <a:ext cx="3323987" cy="369332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1200" b="1" dirty="0">
                <a:solidFill>
                  <a:srgbClr val="1A3552"/>
                </a:solidFill>
                <a:latin typeface="Calibri"/>
              </a:rPr>
              <a:t>5.  </a:t>
            </a:r>
            <a:r>
              <a:rPr lang="en-US" sz="1200" b="1" dirty="0">
                <a:solidFill>
                  <a:srgbClr val="1A3552"/>
                </a:solidFill>
                <a:latin typeface="Calibri"/>
              </a:rPr>
              <a:t>Result 3: Features moderately distinguish HARs </a:t>
            </a:r>
          </a:p>
          <a:p>
            <a:pPr algn="l"/>
            <a:r>
              <a:rPr lang="en-US" sz="1200" b="1" dirty="0">
                <a:solidFill>
                  <a:srgbClr val="1A3552"/>
                </a:solidFill>
                <a:latin typeface="Calibri"/>
              </a:rPr>
              <a:t>from matched CNEs</a:t>
            </a:r>
            <a:endParaRPr sz="1200" b="1" dirty="0">
              <a:solidFill>
                <a:srgbClr val="1A3552"/>
              </a:solidFill>
              <a:latin typeface="Calibri"/>
            </a:endParaRPr>
          </a:p>
        </p:txBody>
      </p:sp>
      <p:pic>
        <p:nvPicPr>
          <p:cNvPr id="40" name="Picture 39" descr="roc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6778" y="5826182"/>
            <a:ext cx="1691640" cy="69203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048146" y="5760720"/>
            <a:ext cx="1969922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3552"/>
                </a:solidFill>
                <a:latin typeface="Calibri"/>
              </a:rPr>
              <a:t>Random Forest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48146" y="5943600"/>
            <a:ext cx="1969922" cy="310896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F1F1F"/>
                </a:solidFill>
                <a:latin typeface="Calibri"/>
              </a:rPr>
              <a:t>AUROC </a:t>
            </a:r>
            <a:r>
              <a:rPr sz="1400" b="1" i="0">
                <a:solidFill>
                  <a:srgbClr val="CC4D4D"/>
                </a:solidFill>
                <a:latin typeface="Calibri"/>
              </a:rPr>
              <a:t>0.777</a:t>
            </a:r>
            <a:r>
              <a:rPr sz="900" b="0" i="0">
                <a:solidFill>
                  <a:srgbClr val="555555"/>
                </a:solidFill>
                <a:latin typeface="Calibri"/>
              </a:rPr>
              <a:t> ± 0.009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48146" y="6254496"/>
            <a:ext cx="1969922" cy="20116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1F1F1F"/>
                </a:solidFill>
                <a:latin typeface="Calibri"/>
              </a:rPr>
              <a:t>AUPRC </a:t>
            </a:r>
            <a:r>
              <a:rPr sz="1200" b="1" i="0">
                <a:solidFill>
                  <a:srgbClr val="CC4D4D"/>
                </a:solidFill>
                <a:latin typeface="Calibri"/>
              </a:rPr>
              <a:t>0.635</a:t>
            </a:r>
            <a:r>
              <a:rPr sz="850" b="0" i="1">
                <a:solidFill>
                  <a:srgbClr val="555555"/>
                </a:solidFill>
                <a:latin typeface="Calibri"/>
              </a:rPr>
              <a:t>  (baseline 0.27)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19930" y="6455664"/>
            <a:ext cx="3551834" cy="1828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1">
                <a:solidFill>
                  <a:srgbClr val="555555"/>
                </a:solidFill>
                <a:latin typeface="Calibri"/>
              </a:rPr>
              <a:t>Logistic regression baseline:  AUROC 0.660  ·  AUPRC 0.493  (blue line in ROC).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64372" y="868680"/>
            <a:ext cx="384444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8255812" y="941832"/>
            <a:ext cx="64008" cy="292608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74684" y="923544"/>
            <a:ext cx="3371308" cy="18466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1200" b="1" dirty="0">
                <a:solidFill>
                  <a:srgbClr val="1A3552"/>
                </a:solidFill>
                <a:latin typeface="Calibri"/>
              </a:rPr>
              <a:t>6.  </a:t>
            </a:r>
            <a:r>
              <a:rPr lang="en-US" sz="1200" b="1" dirty="0">
                <a:solidFill>
                  <a:srgbClr val="1A3552"/>
                </a:solidFill>
                <a:latin typeface="Calibri"/>
              </a:rPr>
              <a:t>Case example: </a:t>
            </a:r>
            <a:r>
              <a:rPr sz="1200" b="1" dirty="0">
                <a:solidFill>
                  <a:srgbClr val="1A3552"/>
                </a:solidFill>
                <a:latin typeface="Calibri"/>
              </a:rPr>
              <a:t>HARE5 / FZD8 </a:t>
            </a:r>
            <a:r>
              <a:rPr lang="en-US" sz="1200" b="1" dirty="0">
                <a:solidFill>
                  <a:srgbClr val="1A3552"/>
                </a:solidFill>
                <a:latin typeface="Calibri"/>
              </a:rPr>
              <a:t>shows acceleration</a:t>
            </a:r>
            <a:endParaRPr sz="1200" b="1" dirty="0">
              <a:solidFill>
                <a:srgbClr val="1A3552"/>
              </a:solidFill>
              <a:latin typeface="Calibri"/>
            </a:endParaRPr>
          </a:p>
        </p:txBody>
      </p:sp>
      <p:pic>
        <p:nvPicPr>
          <p:cNvPr id="48" name="Picture 47" descr="hare5_case_stud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5071" y="1289304"/>
            <a:ext cx="3263045" cy="9144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8274100" y="2231136"/>
            <a:ext cx="3624986" cy="53271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dirty="0">
                <a:solidFill>
                  <a:schemeClr val="accent6"/>
                </a:solidFill>
                <a:latin typeface="Calibri"/>
              </a:rPr>
              <a:t>HARE5 / 2xHAR.238</a:t>
            </a:r>
            <a:r>
              <a:rPr sz="900" b="0" i="0" dirty="0">
                <a:solidFill>
                  <a:schemeClr val="accent6"/>
                </a:solidFill>
                <a:latin typeface="Calibri"/>
              </a:rPr>
              <a:t> </a:t>
            </a:r>
            <a:r>
              <a:rPr sz="900" b="0" i="0" dirty="0">
                <a:solidFill>
                  <a:srgbClr val="1F1F1F"/>
                </a:solidFill>
                <a:latin typeface="Calibri"/>
              </a:rPr>
              <a:t>(Boyd 2015; chr10:35,222,797–35,223,084, hg38) — </a:t>
            </a:r>
            <a:r>
              <a:rPr sz="900" b="0" i="0" dirty="0" err="1">
                <a:solidFill>
                  <a:srgbClr val="1F1F1F"/>
                </a:solidFill>
                <a:latin typeface="Calibri"/>
              </a:rPr>
              <a:t>phastCons</a:t>
            </a:r>
            <a:r>
              <a:rPr sz="900" b="0" i="0" dirty="0">
                <a:solidFill>
                  <a:srgbClr val="1F1F1F"/>
                </a:solidFill>
                <a:latin typeface="Calibri"/>
              </a:rPr>
              <a:t> </a:t>
            </a:r>
            <a:r>
              <a:rPr sz="900" b="1" i="0" dirty="0">
                <a:solidFill>
                  <a:srgbClr val="CC4D4D"/>
                </a:solidFill>
                <a:latin typeface="Calibri"/>
              </a:rPr>
              <a:t>0.045</a:t>
            </a:r>
            <a:r>
              <a:rPr sz="900" b="0" i="0" dirty="0">
                <a:solidFill>
                  <a:srgbClr val="1F1F1F"/>
                </a:solidFill>
                <a:latin typeface="Calibri"/>
              </a:rPr>
              <a:t>, an extreme outlier consistent with strong human-lineage acceleration.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79460" y="2733473"/>
            <a:ext cx="3844442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CCCCCC"/>
            </a:solidFill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8255812" y="2816352"/>
            <a:ext cx="64008" cy="292608"/>
          </a:xfrm>
          <a:prstGeom prst="rect">
            <a:avLst/>
          </a:prstGeom>
          <a:solidFill>
            <a:srgbClr val="D4A017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374684" y="2798064"/>
            <a:ext cx="3719288" cy="184666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pPr algn="l"/>
            <a:r>
              <a:rPr sz="1200" b="1" dirty="0">
                <a:solidFill>
                  <a:srgbClr val="1A3552"/>
                </a:solidFill>
                <a:latin typeface="Calibri"/>
              </a:rPr>
              <a:t>7.  </a:t>
            </a:r>
            <a:r>
              <a:rPr lang="en-US" sz="1200" b="1" dirty="0">
                <a:solidFill>
                  <a:srgbClr val="1A3552"/>
                </a:solidFill>
                <a:latin typeface="Calibri"/>
              </a:rPr>
              <a:t>Result 2: HARs are farther from brain-expressed </a:t>
            </a:r>
            <a:r>
              <a:rPr lang="en-US" sz="1200" b="1" dirty="0" err="1">
                <a:solidFill>
                  <a:srgbClr val="1A3552"/>
                </a:solidFill>
                <a:latin typeface="Calibri"/>
              </a:rPr>
              <a:t>TSSes</a:t>
            </a:r>
            <a:endParaRPr sz="1200" b="1" dirty="0">
              <a:solidFill>
                <a:srgbClr val="1A3552"/>
              </a:solidFill>
              <a:latin typeface="Calibri"/>
            </a:endParaRPr>
          </a:p>
        </p:txBody>
      </p:sp>
      <p:pic>
        <p:nvPicPr>
          <p:cNvPr id="53" name="Picture 52" descr="sensitivity_brain_t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8816" y="3128433"/>
            <a:ext cx="2220768" cy="1406989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10609990" y="3391661"/>
            <a:ext cx="1413912" cy="7528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 dirty="0">
                <a:solidFill>
                  <a:srgbClr val="1A3552"/>
                </a:solidFill>
                <a:latin typeface="Calibri"/>
              </a:rPr>
              <a:t>Median </a:t>
            </a:r>
            <a:r>
              <a:rPr sz="1000" b="1" i="0" dirty="0" err="1">
                <a:solidFill>
                  <a:srgbClr val="1A3552"/>
                </a:solidFill>
                <a:latin typeface="Calibri"/>
              </a:rPr>
              <a:t>dist</a:t>
            </a:r>
            <a:r>
              <a:rPr sz="1000" b="1" i="0" dirty="0">
                <a:solidFill>
                  <a:srgbClr val="1A3552"/>
                </a:solidFill>
                <a:latin typeface="Calibri"/>
              </a:rPr>
              <a:t> to brain TSS:</a:t>
            </a:r>
            <a:r>
              <a:rPr sz="1000" b="0" i="0" dirty="0">
                <a:solidFill>
                  <a:srgbClr val="1F1F1F"/>
                </a:solidFill>
                <a:latin typeface="Calibri"/>
              </a:rPr>
              <a:t>  </a:t>
            </a:r>
            <a:endParaRPr lang="en-US" sz="1000" b="0" i="0" dirty="0">
              <a:solidFill>
                <a:srgbClr val="1F1F1F"/>
              </a:solidFill>
              <a:latin typeface="Calibri"/>
            </a:endParaRPr>
          </a:p>
          <a:p>
            <a:pPr algn="l">
              <a:lnSpc>
                <a:spcPct val="115000"/>
              </a:lnSpc>
            </a:pPr>
            <a:r>
              <a:rPr lang="nn-NO" sz="1000" b="0" i="0" dirty="0">
                <a:solidFill>
                  <a:srgbClr val="1F1F1F"/>
                </a:solidFill>
                <a:latin typeface="Calibri"/>
              </a:rPr>
              <a:t>HAR:     	  269 kb </a:t>
            </a:r>
          </a:p>
          <a:p>
            <a:pPr algn="l">
              <a:lnSpc>
                <a:spcPct val="115000"/>
              </a:lnSpc>
            </a:pPr>
            <a:r>
              <a:rPr lang="nn-NO" sz="1000" b="0" i="0" dirty="0">
                <a:solidFill>
                  <a:srgbClr val="1F1F1F"/>
                </a:solidFill>
                <a:latin typeface="Calibri"/>
              </a:rPr>
              <a:t>Random:    173 kb </a:t>
            </a:r>
          </a:p>
          <a:p>
            <a:pPr algn="l">
              <a:lnSpc>
                <a:spcPct val="115000"/>
              </a:lnSpc>
            </a:pPr>
            <a:r>
              <a:rPr lang="nn-NO" sz="1000" b="0" i="0" dirty="0">
                <a:solidFill>
                  <a:srgbClr val="1F1F1F"/>
                </a:solidFill>
                <a:latin typeface="Calibri"/>
              </a:rPr>
              <a:t>CNE:   	  145 kb</a:t>
            </a:r>
            <a:endParaRPr sz="1000" b="0" i="0" dirty="0">
              <a:solidFill>
                <a:srgbClr val="1F1F1F"/>
              </a:solidFill>
              <a:latin typeface="Calibri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8164372" y="4983479"/>
            <a:ext cx="3844442" cy="1691640"/>
          </a:xfrm>
          <a:prstGeom prst="rect">
            <a:avLst/>
          </a:prstGeom>
          <a:solidFill>
            <a:srgbClr val="1A3552"/>
          </a:solidFill>
          <a:ln w="9525">
            <a:solidFill>
              <a:srgbClr val="1A3552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10676" y="5074919"/>
            <a:ext cx="3551834" cy="2743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8.  Conclusions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47252" y="5360123"/>
            <a:ext cx="3478682" cy="1216359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dirty="0">
                <a:solidFill>
                  <a:srgbClr val="D4A017"/>
                </a:solidFill>
                <a:latin typeface="Calibri"/>
              </a:rPr>
              <a:t>▸  </a:t>
            </a:r>
            <a:r>
              <a:rPr sz="900" b="1" i="0" dirty="0">
                <a:solidFill>
                  <a:schemeClr val="accent6"/>
                </a:solidFill>
                <a:latin typeface="Calibri"/>
              </a:rPr>
              <a:t>HARs </a:t>
            </a:r>
            <a:r>
              <a:rPr lang="en-US" sz="900" b="1" i="0" dirty="0">
                <a:solidFill>
                  <a:schemeClr val="accent6"/>
                </a:solidFill>
                <a:latin typeface="Calibri"/>
              </a:rPr>
              <a:t>are regulatory-enriched: </a:t>
            </a:r>
            <a:r>
              <a:rPr lang="en-US" sz="900" b="0" i="0" dirty="0">
                <a:solidFill>
                  <a:srgbClr val="FFFFFF"/>
                </a:solidFill>
                <a:latin typeface="Calibri"/>
              </a:rPr>
              <a:t>HARs overlap </a:t>
            </a:r>
            <a:r>
              <a:rPr lang="en-US" sz="900" b="0" i="0" dirty="0" err="1">
                <a:solidFill>
                  <a:srgbClr val="FFFFFF"/>
                </a:solidFill>
                <a:latin typeface="Calibri"/>
              </a:rPr>
              <a:t>cCREs</a:t>
            </a:r>
            <a:r>
              <a:rPr lang="en-US" sz="900" b="0" i="0" dirty="0">
                <a:solidFill>
                  <a:srgbClr val="FFFFFF"/>
                </a:solidFill>
                <a:latin typeface="Calibri"/>
              </a:rPr>
              <a:t> more often than matched CNEs: 27% vs 17%. </a:t>
            </a:r>
            <a:endParaRPr sz="900" b="0" i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0" b="0" i="0" dirty="0">
                <a:solidFill>
                  <a:srgbClr val="1F1F1F"/>
                </a:solidFill>
                <a:latin typeface="Calibri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000" b="1" dirty="0">
                <a:solidFill>
                  <a:srgbClr val="D4A017"/>
                </a:solidFill>
                <a:latin typeface="Calibri"/>
              </a:rPr>
              <a:t>▸  </a:t>
            </a:r>
            <a:r>
              <a:rPr sz="900" b="1" i="0" dirty="0">
                <a:solidFill>
                  <a:schemeClr val="accent6"/>
                </a:solidFill>
                <a:latin typeface="Calibri"/>
              </a:rPr>
              <a:t>HARs </a:t>
            </a:r>
            <a:r>
              <a:rPr lang="en-US" sz="900" b="1" i="0" dirty="0">
                <a:solidFill>
                  <a:schemeClr val="accent6"/>
                </a:solidFill>
                <a:latin typeface="Calibri"/>
              </a:rPr>
              <a:t>are not simply closer to brain-expressed genes</a:t>
            </a:r>
            <a:r>
              <a:rPr lang="en-US" sz="900" b="1" i="0" dirty="0">
                <a:solidFill>
                  <a:srgbClr val="FFFFFF"/>
                </a:solidFill>
                <a:latin typeface="Calibri"/>
              </a:rPr>
              <a:t>: </a:t>
            </a:r>
            <a:r>
              <a:rPr lang="en-US" sz="900" b="0" i="0" dirty="0">
                <a:solidFill>
                  <a:srgbClr val="FFFFFF"/>
                </a:solidFill>
                <a:latin typeface="Calibri"/>
              </a:rPr>
              <a:t>Matched and random-control comparisons show HARs are farther from brain </a:t>
            </a:r>
            <a:r>
              <a:rPr lang="en-US" sz="900" b="0" i="0" dirty="0" err="1">
                <a:solidFill>
                  <a:srgbClr val="FFFFFF"/>
                </a:solidFill>
                <a:latin typeface="Calibri"/>
              </a:rPr>
              <a:t>TSSes</a:t>
            </a:r>
            <a:r>
              <a:rPr lang="en-US" sz="900" b="0" i="0" dirty="0">
                <a:solidFill>
                  <a:srgbClr val="FFFFFF"/>
                </a:solidFill>
                <a:latin typeface="Calibri"/>
              </a:rPr>
              <a:t>.</a:t>
            </a:r>
            <a:endParaRPr sz="100" b="0" i="0" dirty="0">
              <a:solidFill>
                <a:srgbClr val="1F1F1F"/>
              </a:solidFill>
              <a:latin typeface="Calibri"/>
            </a:endParaRPr>
          </a:p>
          <a:p>
            <a:pPr algn="l">
              <a:lnSpc>
                <a:spcPct val="110000"/>
              </a:lnSpc>
            </a:pPr>
            <a:r>
              <a:rPr sz="1000" b="1" dirty="0">
                <a:solidFill>
                  <a:srgbClr val="D4A017"/>
                </a:solidFill>
                <a:latin typeface="Calibri"/>
              </a:rPr>
              <a:t>▸  </a:t>
            </a:r>
            <a:r>
              <a:rPr lang="en-US" sz="900" b="1" i="0" dirty="0">
                <a:solidFill>
                  <a:schemeClr val="accent6"/>
                </a:solidFill>
                <a:latin typeface="Calibri"/>
              </a:rPr>
              <a:t>Conservation dominates the signal: </a:t>
            </a:r>
            <a:r>
              <a:rPr lang="en-US" sz="900" b="1" i="0" dirty="0">
                <a:solidFill>
                  <a:srgbClr val="FFFFFF"/>
                </a:solidFill>
                <a:latin typeface="Calibri"/>
              </a:rPr>
              <a:t>Lower </a:t>
            </a:r>
            <a:r>
              <a:rPr lang="en-US" sz="900" b="1" i="0" dirty="0" err="1">
                <a:solidFill>
                  <a:srgbClr val="FFFFFF"/>
                </a:solidFill>
                <a:latin typeface="Calibri"/>
              </a:rPr>
              <a:t>phastCons</a:t>
            </a:r>
            <a:r>
              <a:rPr lang="en-US" sz="900" b="1" i="0" dirty="0">
                <a:solidFill>
                  <a:srgbClr val="FFFFFF"/>
                </a:solidFill>
                <a:latin typeface="Calibri"/>
              </a:rPr>
              <a:t> is the strongest distinguishing feature, but this is partly definitional.</a:t>
            </a:r>
            <a:endParaRPr sz="900" b="0" i="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100" b="0" i="0" dirty="0">
                <a:solidFill>
                  <a:srgbClr val="1F1F1F"/>
                </a:solidFill>
                <a:latin typeface="Calibri"/>
              </a:rPr>
              <a:t> </a:t>
            </a:r>
          </a:p>
          <a:p>
            <a:pPr algn="l">
              <a:lnSpc>
                <a:spcPct val="110000"/>
              </a:lnSpc>
            </a:pPr>
            <a:r>
              <a:rPr sz="1000" b="1" dirty="0">
                <a:solidFill>
                  <a:srgbClr val="D4A017"/>
                </a:solidFill>
                <a:latin typeface="Calibri"/>
              </a:rPr>
              <a:t>▸  </a:t>
            </a:r>
            <a:r>
              <a:rPr lang="en-US" sz="900" b="1" i="0" dirty="0">
                <a:solidFill>
                  <a:schemeClr val="accent6"/>
                </a:solidFill>
                <a:latin typeface="Calibri"/>
              </a:rPr>
              <a:t>Caveat: </a:t>
            </a:r>
            <a:r>
              <a:rPr lang="en-US" sz="900" b="1" i="0" dirty="0">
                <a:solidFill>
                  <a:srgbClr val="FFFFFF"/>
                </a:solidFill>
                <a:latin typeface="Calibri"/>
              </a:rPr>
              <a:t>Linear TSS distance does not prove regulatory targeting.</a:t>
            </a:r>
            <a:endParaRPr sz="900" b="0" i="0" dirty="0">
              <a:solidFill>
                <a:srgbClr val="FFFFFF"/>
              </a:solidFill>
              <a:latin typeface="Calibri"/>
            </a:endParaRPr>
          </a:p>
        </p:txBody>
      </p: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A98D7C6F-8561-AAF0-EB8B-4CD1B6746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558229"/>
              </p:ext>
            </p:extLst>
          </p:nvPr>
        </p:nvGraphicFramePr>
        <p:xfrm>
          <a:off x="382447" y="4339915"/>
          <a:ext cx="3098046" cy="11680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16003">
                  <a:extLst>
                    <a:ext uri="{9D8B030D-6E8A-4147-A177-3AD203B41FA5}">
                      <a16:colId xmlns:a16="http://schemas.microsoft.com/office/drawing/2014/main" val="3038443280"/>
                    </a:ext>
                  </a:extLst>
                </a:gridCol>
                <a:gridCol w="1982043">
                  <a:extLst>
                    <a:ext uri="{9D8B030D-6E8A-4147-A177-3AD203B41FA5}">
                      <a16:colId xmlns:a16="http://schemas.microsoft.com/office/drawing/2014/main" val="1381041355"/>
                    </a:ext>
                  </a:extLst>
                </a:gridCol>
              </a:tblGrid>
              <a:tr h="206459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Category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/>
                        <a:t>Features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6714678"/>
                  </a:ext>
                </a:extLst>
              </a:tr>
              <a:tr h="206459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Sequence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GC content, length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2186933"/>
                  </a:ext>
                </a:extLst>
              </a:tr>
              <a:tr h="206459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Conservation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Mean </a:t>
                      </a:r>
                      <a:r>
                        <a:rPr lang="en-US" sz="900" dirty="0" err="1"/>
                        <a:t>phastCons</a:t>
                      </a:r>
                      <a:endParaRPr lang="en-US" sz="900" dirty="0"/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96253325"/>
                  </a:ext>
                </a:extLst>
              </a:tr>
              <a:tr h="206459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Gene context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Distance to nearest TSS, distance to nearest brain-expressed TSS. 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2070784"/>
                  </a:ext>
                </a:extLst>
              </a:tr>
              <a:tr h="206459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Regulatory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ENCODE </a:t>
                      </a:r>
                      <a:r>
                        <a:rPr lang="en-US" sz="900" dirty="0" err="1"/>
                        <a:t>cCRE</a:t>
                      </a:r>
                      <a:r>
                        <a:rPr lang="en-US" sz="900" dirty="0"/>
                        <a:t> overlap, fetal-brain enhancer overlap</a:t>
                      </a: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17845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589</TotalTime>
  <Words>485</Words>
  <Application>Microsoft Office PowerPoint</Application>
  <PresentationFormat>Widescreen</PresentationFormat>
  <Paragraphs>60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Orkuma</cp:lastModifiedBy>
  <cp:revision>15</cp:revision>
  <dcterms:created xsi:type="dcterms:W3CDTF">2013-01-27T09:14:16Z</dcterms:created>
  <dcterms:modified xsi:type="dcterms:W3CDTF">2026-04-27T03:36:57Z</dcterms:modified>
  <cp:category/>
</cp:coreProperties>
</file>