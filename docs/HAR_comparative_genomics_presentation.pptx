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6154F-73A3-496F-B5A3-BDB0BF94D34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D8167-61DB-48F2-945F-9B6C42CFA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939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238C-0CC2-A6FA-FDC5-904655888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28E45-D036-87F6-0C92-2F1ED84FC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D93C0-F67B-0DC9-D488-E9E858AAE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865CD-C6E0-3121-E550-1BDF4632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90066-070B-0F17-76AE-79AAFCBF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07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0697-D600-1FE7-1CAB-1C297D53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5F36E-AA15-AC84-7090-11885212E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F7DBD-25AE-FBA0-B9A4-23D84F7B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F4535-1505-9BED-25CD-900CCF66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6EA50-F5D5-E312-B913-824C7258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28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953B3-D6BD-3E63-6D12-684A54FB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B5F0E-EDBD-C712-D042-6C35B5467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56C1-1317-4B39-3C89-2DA680642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DD98F-3EDD-CBEC-632E-4C20A287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5023-861B-2B4E-60D3-8C71CE7D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8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D86D-385A-9A57-CDF3-EB48C035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6E318-BBA5-FBED-01AC-EC9DE0FE4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253A79-F900-84E4-DB5E-62FE8AE2A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D715E-964E-A2D9-C73A-00EC710AD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4642C-CA84-F593-C1EF-B276B4A9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D52BD-B907-A10A-87DB-D25F70189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6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C8929-DB0C-5FEF-A0EE-51A88FDB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CCCE1-7F1E-B667-2C2D-39D0F30CF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16218-E81B-9AF2-F6F5-D4198A4B7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249020-0B6E-F748-799A-0766576A4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F40D2-B623-F13E-2DF6-E6289017A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777B7-AC83-D075-D6A0-2A610922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25D1DF-8FF5-0AAC-FF7D-2D421831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3E59B-B53E-9437-76D7-106EF463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0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2FF7-CDA3-FAA3-38AD-DEEC5483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AA446-169D-896C-67D2-1E2F49EC5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B1A7B5-8E39-1367-97FD-E624947E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8563D2-52CD-EA25-0D1D-048BAF0E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16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CED92-C48E-C402-D21B-01D31FB3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E70AF-1132-D657-6F10-F9FD9497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1AF89-834D-D3F7-A2C0-7C998F49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4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6EE2-3516-097E-513B-C956CD75B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B52CC-70E1-3D22-098A-6240B4252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022FF-4063-F517-A3DB-D5E0E7372D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40A15-01B6-FD4F-8C18-516E0FD8D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850ED-FB8B-233C-49D1-95C262C0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62F9B-F45A-B833-F968-191C3032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3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ABE9-9B49-D944-7F71-AC8269193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CC452-98AA-0687-E21D-321F2BEA6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8389C-E944-9A14-0261-78F0FA4CB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BD2B2-4279-EF25-4D93-160327F2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EB294-BE1F-B983-CCAC-F06E82ED3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B0509-D800-E973-9AF2-42DAE6F86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9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6CB6-FB16-CFB7-BEFC-895E9020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76C7D-7BF0-1E89-937E-9D11933EFD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56DDC-B3E3-D993-120A-63627B52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8CC86-C747-860A-8D8C-770E87ACD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11B30-B02D-7856-2BA7-AD98520D6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DB036-D9EE-F0CC-E5DA-D7ADAEB54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D28EF-B1A1-66AA-8D2E-55298549B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56804-32CE-2578-AE1E-AFA52034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5229A-F3F1-2256-CE8A-090612702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10BD-0515-3FB9-9A98-DD578FD1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131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23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E3D90-9FA2-D545-B502-056A0CF6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93963-2089-F2B1-9072-6DA10FBF4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0E5DA-E01F-3804-61BD-70E96FCEE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0707D-9C99-4090-A948-7BFED8B41B1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DD45A-C111-4F8F-E465-C84892192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4037C-A2CC-4E33-1485-603462A91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E89E3E-2265-49A6-9403-3422E9C631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14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71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nature05113" TargetMode="External"/><Relationship Id="rId3" Type="http://schemas.openxmlformats.org/officeDocument/2006/relationships/hyperlink" Target="https://royalsocietypublishing.org/rstb/article/368/1632/20130025/22332" TargetMode="External"/><Relationship Id="rId7" Type="http://schemas.openxmlformats.org/officeDocument/2006/relationships/hyperlink" Target="https://doi.org/10.1093/gbe/evx240" TargetMode="External"/><Relationship Id="rId2" Type="http://schemas.openxmlformats.org/officeDocument/2006/relationships/hyperlink" Target="https://www.cell.com/current-biology/fulltext/S0960-9822(15)00073-1?ref=binfind.com%2Fwe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.org/doi/abs/10.1126/science.abm1696" TargetMode="External"/><Relationship Id="rId5" Type="http://schemas.openxmlformats.org/officeDocument/2006/relationships/hyperlink" Target="https://www.cell.com/cell/fulltext/S0092-8674(16)31169-2" TargetMode="External"/><Relationship Id="rId4" Type="http://schemas.openxmlformats.org/officeDocument/2006/relationships/hyperlink" Target="https://www.nature.com/articles/s41586-025-08622-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10C2-FC98-1405-783B-21A53406BC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03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What makes a HAR a HAR?</a:t>
            </a:r>
            <a:br>
              <a:rPr lang="en-US" dirty="0"/>
            </a:br>
            <a:r>
              <a:rPr lang="en-US" dirty="0"/>
              <a:t> </a:t>
            </a:r>
            <a:r>
              <a:rPr lang="en-US" sz="3100" dirty="0">
                <a:solidFill>
                  <a:srgbClr val="002060"/>
                </a:solidFill>
              </a:rPr>
              <a:t>Interpretable ML on human-accelerated noncoding regions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6ED3B-BA61-FA05-991B-D7988F6A7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0125" y="3602037"/>
            <a:ext cx="9953625" cy="2246313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b="1" dirty="0"/>
              <a:t>Central question: </a:t>
            </a:r>
            <a:r>
              <a:rPr lang="en-US" dirty="0"/>
              <a:t>Which features distinguish HARs from matched conserved elements?</a:t>
            </a:r>
          </a:p>
          <a:p>
            <a:endParaRPr lang="en-US" dirty="0"/>
          </a:p>
          <a:p>
            <a:r>
              <a:rPr lang="en-US" b="1" dirty="0"/>
              <a:t>Martin Orkuma</a:t>
            </a:r>
          </a:p>
          <a:p>
            <a:r>
              <a:rPr lang="en-US" sz="1800" dirty="0"/>
              <a:t>MS, Biological Data Science</a:t>
            </a:r>
          </a:p>
          <a:p>
            <a:r>
              <a:rPr lang="en-US" sz="1700" dirty="0"/>
              <a:t>Arizona State University, Tempe, Arizona</a:t>
            </a:r>
          </a:p>
          <a:p>
            <a:r>
              <a:rPr lang="en-US" sz="1700" dirty="0"/>
              <a:t>April 26, 2026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C356F66-C2D4-DEF5-700B-64BC76622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4559" y="3190409"/>
            <a:ext cx="4485503" cy="47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9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1583-04D2-C2AF-290E-2B91DA1E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7915"/>
          </a:xfrm>
        </p:spPr>
        <p:txBody>
          <a:bodyPr/>
          <a:lstStyle/>
          <a:p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Accelerated Regions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9C1CF-DA5C-FB8D-2825-2E5E388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5724525" cy="47139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HAR?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accelerated regions (HARs) are evolutionarily conserved nucleotide sequences in humans that have rapidly diverged since the separation from our common ancestor with chimpanzees (Keough et al., 2023). 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care?</a:t>
            </a:r>
            <a:endParaRPr lang="en-US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are noncoding; enriched near brain-expressed genes (Pollard 2006; Capra 2013)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in HARs implicated in cognition and social behavior (Doan 2016)</a:t>
            </a:r>
            <a:endParaRPr lang="en-US" sz="1400" dirty="0"/>
          </a:p>
          <a:p>
            <a:pPr marL="342900" indent="-342900">
              <a:lnSpc>
                <a:spcPct val="100000"/>
              </a:lnSpc>
              <a:spcAft>
                <a:spcPts val="400"/>
              </a:spcAft>
              <a:buSzPct val="100000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HARE5 / FZD8 enlarges cortex when humanized in mouse (Boyd 2015)</a:t>
            </a:r>
            <a:endParaRPr lang="en-US" sz="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question: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prior work compares HARs to genome background — which conflates "is conserved" with "is human-accelerated." Are HARs truly distinguished by their regulatory neighborhood, or just by sequence-level acceleration? Which features matter most?</a:t>
            </a:r>
            <a:endParaRPr lang="en-US" sz="1400" dirty="0"/>
          </a:p>
        </p:txBody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93A12803-E5DC-C114-F76C-03869A57FFA3}"/>
              </a:ext>
            </a:extLst>
          </p:cNvPr>
          <p:cNvSpPr>
            <a:spLocks/>
          </p:cNvSpPr>
          <p:nvPr/>
        </p:nvSpPr>
        <p:spPr>
          <a:xfrm>
            <a:off x="7155180" y="1463040"/>
            <a:ext cx="4572000" cy="41148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B542DBA7-F4F1-A875-E0F0-4AE1F106F4EE}"/>
              </a:ext>
            </a:extLst>
          </p:cNvPr>
          <p:cNvSpPr>
            <a:spLocks/>
          </p:cNvSpPr>
          <p:nvPr/>
        </p:nvSpPr>
        <p:spPr>
          <a:xfrm>
            <a:off x="722376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conservation + human-lineage divergence</a:t>
            </a:r>
            <a:endParaRPr lang="en-US" sz="12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E9C256E9-1CC9-F12C-D4F2-1451CA644CFC}"/>
              </a:ext>
            </a:extLst>
          </p:cNvPr>
          <p:cNvSpPr>
            <a:spLocks/>
          </p:cNvSpPr>
          <p:nvPr/>
        </p:nvSpPr>
        <p:spPr>
          <a:xfrm>
            <a:off x="7223760" y="2103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Chicken</a:t>
            </a:r>
            <a:endParaRPr lang="en-US" sz="1200" dirty="0"/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4DF339B7-752E-4039-B8DB-1B89ECB3A981}"/>
              </a:ext>
            </a:extLst>
          </p:cNvPr>
          <p:cNvSpPr>
            <a:spLocks/>
          </p:cNvSpPr>
          <p:nvPr/>
        </p:nvSpPr>
        <p:spPr>
          <a:xfrm>
            <a:off x="8183880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B053D222-3510-68D0-FDF8-4B89963FF32B}"/>
              </a:ext>
            </a:extLst>
          </p:cNvPr>
          <p:cNvSpPr>
            <a:spLocks/>
          </p:cNvSpPr>
          <p:nvPr/>
        </p:nvSpPr>
        <p:spPr>
          <a:xfrm>
            <a:off x="8375904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9" name="Text 14">
            <a:extLst>
              <a:ext uri="{FF2B5EF4-FFF2-40B4-BE49-F238E27FC236}">
                <a16:creationId xmlns:a16="http://schemas.microsoft.com/office/drawing/2014/main" id="{883F43FA-EC98-2CE8-13B8-F8E45DE48E49}"/>
              </a:ext>
            </a:extLst>
          </p:cNvPr>
          <p:cNvSpPr>
            <a:spLocks/>
          </p:cNvSpPr>
          <p:nvPr/>
        </p:nvSpPr>
        <p:spPr>
          <a:xfrm>
            <a:off x="8567928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B5D0A37E-AD95-F2BC-A2D6-B2E6E2080D1D}"/>
              </a:ext>
            </a:extLst>
          </p:cNvPr>
          <p:cNvSpPr>
            <a:spLocks/>
          </p:cNvSpPr>
          <p:nvPr/>
        </p:nvSpPr>
        <p:spPr>
          <a:xfrm>
            <a:off x="8759952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A80B7D1F-97DF-1747-6493-036F4AF97D98}"/>
              </a:ext>
            </a:extLst>
          </p:cNvPr>
          <p:cNvSpPr>
            <a:spLocks/>
          </p:cNvSpPr>
          <p:nvPr/>
        </p:nvSpPr>
        <p:spPr>
          <a:xfrm>
            <a:off x="8951976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8AD1CCD7-D2DA-8154-10C2-2D85DAF3D134}"/>
              </a:ext>
            </a:extLst>
          </p:cNvPr>
          <p:cNvSpPr>
            <a:spLocks/>
          </p:cNvSpPr>
          <p:nvPr/>
        </p:nvSpPr>
        <p:spPr>
          <a:xfrm>
            <a:off x="9144000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E11B3697-C6A9-0E05-872A-1A7679E2153E}"/>
              </a:ext>
            </a:extLst>
          </p:cNvPr>
          <p:cNvSpPr>
            <a:spLocks/>
          </p:cNvSpPr>
          <p:nvPr/>
        </p:nvSpPr>
        <p:spPr>
          <a:xfrm>
            <a:off x="9336024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19A44CDF-A1AB-3E4D-60B1-44FB1550027D}"/>
              </a:ext>
            </a:extLst>
          </p:cNvPr>
          <p:cNvSpPr>
            <a:spLocks/>
          </p:cNvSpPr>
          <p:nvPr/>
        </p:nvSpPr>
        <p:spPr>
          <a:xfrm>
            <a:off x="9528048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53DB4270-B2B0-5389-03ED-212DA3C5EDFD}"/>
              </a:ext>
            </a:extLst>
          </p:cNvPr>
          <p:cNvSpPr>
            <a:spLocks/>
          </p:cNvSpPr>
          <p:nvPr/>
        </p:nvSpPr>
        <p:spPr>
          <a:xfrm>
            <a:off x="9720072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Text 21">
            <a:extLst>
              <a:ext uri="{FF2B5EF4-FFF2-40B4-BE49-F238E27FC236}">
                <a16:creationId xmlns:a16="http://schemas.microsoft.com/office/drawing/2014/main" id="{1B18303C-A9B6-F012-12F8-EB3574741AB2}"/>
              </a:ext>
            </a:extLst>
          </p:cNvPr>
          <p:cNvSpPr>
            <a:spLocks/>
          </p:cNvSpPr>
          <p:nvPr/>
        </p:nvSpPr>
        <p:spPr>
          <a:xfrm>
            <a:off x="9912096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389F344D-4E4E-747C-AAB5-DA5E824D18B0}"/>
              </a:ext>
            </a:extLst>
          </p:cNvPr>
          <p:cNvSpPr>
            <a:spLocks/>
          </p:cNvSpPr>
          <p:nvPr/>
        </p:nvSpPr>
        <p:spPr>
          <a:xfrm>
            <a:off x="10104120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18" name="Text 23">
            <a:extLst>
              <a:ext uri="{FF2B5EF4-FFF2-40B4-BE49-F238E27FC236}">
                <a16:creationId xmlns:a16="http://schemas.microsoft.com/office/drawing/2014/main" id="{F9186819-4859-5AAE-7C20-C527E86D16C9}"/>
              </a:ext>
            </a:extLst>
          </p:cNvPr>
          <p:cNvSpPr>
            <a:spLocks/>
          </p:cNvSpPr>
          <p:nvPr/>
        </p:nvSpPr>
        <p:spPr>
          <a:xfrm>
            <a:off x="10296144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24">
            <a:extLst>
              <a:ext uri="{FF2B5EF4-FFF2-40B4-BE49-F238E27FC236}">
                <a16:creationId xmlns:a16="http://schemas.microsoft.com/office/drawing/2014/main" id="{06DE001C-1556-57CE-B087-BD1C06B5CBA0}"/>
              </a:ext>
            </a:extLst>
          </p:cNvPr>
          <p:cNvSpPr>
            <a:spLocks/>
          </p:cNvSpPr>
          <p:nvPr/>
        </p:nvSpPr>
        <p:spPr>
          <a:xfrm>
            <a:off x="10488168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25">
            <a:extLst>
              <a:ext uri="{FF2B5EF4-FFF2-40B4-BE49-F238E27FC236}">
                <a16:creationId xmlns:a16="http://schemas.microsoft.com/office/drawing/2014/main" id="{DF9EF0E8-2F74-6057-AF11-572F56AB681E}"/>
              </a:ext>
            </a:extLst>
          </p:cNvPr>
          <p:cNvSpPr>
            <a:spLocks/>
          </p:cNvSpPr>
          <p:nvPr/>
        </p:nvSpPr>
        <p:spPr>
          <a:xfrm>
            <a:off x="10680192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21" name="Text 26">
            <a:extLst>
              <a:ext uri="{FF2B5EF4-FFF2-40B4-BE49-F238E27FC236}">
                <a16:creationId xmlns:a16="http://schemas.microsoft.com/office/drawing/2014/main" id="{692062A6-54E0-8B38-E6A8-9896FC884BBB}"/>
              </a:ext>
            </a:extLst>
          </p:cNvPr>
          <p:cNvSpPr>
            <a:spLocks/>
          </p:cNvSpPr>
          <p:nvPr/>
        </p:nvSpPr>
        <p:spPr>
          <a:xfrm>
            <a:off x="10872216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1F848C9D-5C57-4A1A-5B57-EB0FC913DEE2}"/>
              </a:ext>
            </a:extLst>
          </p:cNvPr>
          <p:cNvSpPr>
            <a:spLocks/>
          </p:cNvSpPr>
          <p:nvPr/>
        </p:nvSpPr>
        <p:spPr>
          <a:xfrm>
            <a:off x="11064240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8">
            <a:extLst>
              <a:ext uri="{FF2B5EF4-FFF2-40B4-BE49-F238E27FC236}">
                <a16:creationId xmlns:a16="http://schemas.microsoft.com/office/drawing/2014/main" id="{C027AE08-C8D2-2CFE-07C3-2737860B92B5}"/>
              </a:ext>
            </a:extLst>
          </p:cNvPr>
          <p:cNvSpPr>
            <a:spLocks/>
          </p:cNvSpPr>
          <p:nvPr/>
        </p:nvSpPr>
        <p:spPr>
          <a:xfrm>
            <a:off x="11256264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4" name="Text 29">
            <a:extLst>
              <a:ext uri="{FF2B5EF4-FFF2-40B4-BE49-F238E27FC236}">
                <a16:creationId xmlns:a16="http://schemas.microsoft.com/office/drawing/2014/main" id="{8474FD30-CF2B-C956-372F-0DD26B82962F}"/>
              </a:ext>
            </a:extLst>
          </p:cNvPr>
          <p:cNvSpPr>
            <a:spLocks/>
          </p:cNvSpPr>
          <p:nvPr/>
        </p:nvSpPr>
        <p:spPr>
          <a:xfrm>
            <a:off x="11448288" y="2103120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25" name="Text 30">
            <a:extLst>
              <a:ext uri="{FF2B5EF4-FFF2-40B4-BE49-F238E27FC236}">
                <a16:creationId xmlns:a16="http://schemas.microsoft.com/office/drawing/2014/main" id="{E57C299B-0BA5-2ED1-6889-A0290302338B}"/>
              </a:ext>
            </a:extLst>
          </p:cNvPr>
          <p:cNvSpPr>
            <a:spLocks/>
          </p:cNvSpPr>
          <p:nvPr/>
        </p:nvSpPr>
        <p:spPr>
          <a:xfrm>
            <a:off x="7223760" y="24871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Mouse</a:t>
            </a:r>
            <a:endParaRPr lang="en-US" sz="1200" dirty="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F03FCF75-962E-C2C8-7F9F-A090D615F0EA}"/>
              </a:ext>
            </a:extLst>
          </p:cNvPr>
          <p:cNvSpPr>
            <a:spLocks/>
          </p:cNvSpPr>
          <p:nvPr/>
        </p:nvSpPr>
        <p:spPr>
          <a:xfrm>
            <a:off x="8183880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27" name="Text 32">
            <a:extLst>
              <a:ext uri="{FF2B5EF4-FFF2-40B4-BE49-F238E27FC236}">
                <a16:creationId xmlns:a16="http://schemas.microsoft.com/office/drawing/2014/main" id="{9B63280E-A795-5510-2972-ACB67AB66C52}"/>
              </a:ext>
            </a:extLst>
          </p:cNvPr>
          <p:cNvSpPr>
            <a:spLocks/>
          </p:cNvSpPr>
          <p:nvPr/>
        </p:nvSpPr>
        <p:spPr>
          <a:xfrm>
            <a:off x="8375904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8F22AC43-14C3-321F-17CD-E8FEFBD17F63}"/>
              </a:ext>
            </a:extLst>
          </p:cNvPr>
          <p:cNvSpPr>
            <a:spLocks/>
          </p:cNvSpPr>
          <p:nvPr/>
        </p:nvSpPr>
        <p:spPr>
          <a:xfrm>
            <a:off x="8567928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F73956F4-C8AF-A594-A110-4C992D49BD63}"/>
              </a:ext>
            </a:extLst>
          </p:cNvPr>
          <p:cNvSpPr>
            <a:spLocks/>
          </p:cNvSpPr>
          <p:nvPr/>
        </p:nvSpPr>
        <p:spPr>
          <a:xfrm>
            <a:off x="8759952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30" name="Text 35">
            <a:extLst>
              <a:ext uri="{FF2B5EF4-FFF2-40B4-BE49-F238E27FC236}">
                <a16:creationId xmlns:a16="http://schemas.microsoft.com/office/drawing/2014/main" id="{A7E0417E-F2FD-8BE0-FAFD-42D8C78E18F3}"/>
              </a:ext>
            </a:extLst>
          </p:cNvPr>
          <p:cNvSpPr>
            <a:spLocks/>
          </p:cNvSpPr>
          <p:nvPr/>
        </p:nvSpPr>
        <p:spPr>
          <a:xfrm>
            <a:off x="8951976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36">
            <a:extLst>
              <a:ext uri="{FF2B5EF4-FFF2-40B4-BE49-F238E27FC236}">
                <a16:creationId xmlns:a16="http://schemas.microsoft.com/office/drawing/2014/main" id="{67C567AF-72B5-E231-B172-C7B62123D905}"/>
              </a:ext>
            </a:extLst>
          </p:cNvPr>
          <p:cNvSpPr>
            <a:spLocks/>
          </p:cNvSpPr>
          <p:nvPr/>
        </p:nvSpPr>
        <p:spPr>
          <a:xfrm>
            <a:off x="9144000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095E3702-F6D6-F0D6-B832-04FE793F981A}"/>
              </a:ext>
            </a:extLst>
          </p:cNvPr>
          <p:cNvSpPr>
            <a:spLocks/>
          </p:cNvSpPr>
          <p:nvPr/>
        </p:nvSpPr>
        <p:spPr>
          <a:xfrm>
            <a:off x="9336024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33" name="Text 38">
            <a:extLst>
              <a:ext uri="{FF2B5EF4-FFF2-40B4-BE49-F238E27FC236}">
                <a16:creationId xmlns:a16="http://schemas.microsoft.com/office/drawing/2014/main" id="{E0C76FBE-154C-2CA8-597A-01609C8A9F6D}"/>
              </a:ext>
            </a:extLst>
          </p:cNvPr>
          <p:cNvSpPr>
            <a:spLocks/>
          </p:cNvSpPr>
          <p:nvPr/>
        </p:nvSpPr>
        <p:spPr>
          <a:xfrm>
            <a:off x="9528048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C920EF19-672B-9655-9802-B50FB86C607F}"/>
              </a:ext>
            </a:extLst>
          </p:cNvPr>
          <p:cNvSpPr>
            <a:spLocks/>
          </p:cNvSpPr>
          <p:nvPr/>
        </p:nvSpPr>
        <p:spPr>
          <a:xfrm>
            <a:off x="9720072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35" name="Text 40">
            <a:extLst>
              <a:ext uri="{FF2B5EF4-FFF2-40B4-BE49-F238E27FC236}">
                <a16:creationId xmlns:a16="http://schemas.microsoft.com/office/drawing/2014/main" id="{8C54DF9A-03B8-9A78-307D-B7A5AA2758E5}"/>
              </a:ext>
            </a:extLst>
          </p:cNvPr>
          <p:cNvSpPr>
            <a:spLocks/>
          </p:cNvSpPr>
          <p:nvPr/>
        </p:nvSpPr>
        <p:spPr>
          <a:xfrm>
            <a:off x="9912096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36" name="Text 41">
            <a:extLst>
              <a:ext uri="{FF2B5EF4-FFF2-40B4-BE49-F238E27FC236}">
                <a16:creationId xmlns:a16="http://schemas.microsoft.com/office/drawing/2014/main" id="{DE71547F-59DA-C457-A80B-576F302A68BA}"/>
              </a:ext>
            </a:extLst>
          </p:cNvPr>
          <p:cNvSpPr>
            <a:spLocks/>
          </p:cNvSpPr>
          <p:nvPr/>
        </p:nvSpPr>
        <p:spPr>
          <a:xfrm>
            <a:off x="10104120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37" name="Text 42">
            <a:extLst>
              <a:ext uri="{FF2B5EF4-FFF2-40B4-BE49-F238E27FC236}">
                <a16:creationId xmlns:a16="http://schemas.microsoft.com/office/drawing/2014/main" id="{02F43918-9B35-C7A3-D425-B2A57D426761}"/>
              </a:ext>
            </a:extLst>
          </p:cNvPr>
          <p:cNvSpPr>
            <a:spLocks/>
          </p:cNvSpPr>
          <p:nvPr/>
        </p:nvSpPr>
        <p:spPr>
          <a:xfrm>
            <a:off x="10296144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38" name="Text 43">
            <a:extLst>
              <a:ext uri="{FF2B5EF4-FFF2-40B4-BE49-F238E27FC236}">
                <a16:creationId xmlns:a16="http://schemas.microsoft.com/office/drawing/2014/main" id="{4E25B40C-2830-FA2D-BEFD-CB16A57B0DFF}"/>
              </a:ext>
            </a:extLst>
          </p:cNvPr>
          <p:cNvSpPr>
            <a:spLocks/>
          </p:cNvSpPr>
          <p:nvPr/>
        </p:nvSpPr>
        <p:spPr>
          <a:xfrm>
            <a:off x="10488168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39" name="Text 44">
            <a:extLst>
              <a:ext uri="{FF2B5EF4-FFF2-40B4-BE49-F238E27FC236}">
                <a16:creationId xmlns:a16="http://schemas.microsoft.com/office/drawing/2014/main" id="{2EEE7CFA-B85F-7D0D-C341-DC74C523D060}"/>
              </a:ext>
            </a:extLst>
          </p:cNvPr>
          <p:cNvSpPr>
            <a:spLocks/>
          </p:cNvSpPr>
          <p:nvPr/>
        </p:nvSpPr>
        <p:spPr>
          <a:xfrm>
            <a:off x="10680192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40" name="Text 45">
            <a:extLst>
              <a:ext uri="{FF2B5EF4-FFF2-40B4-BE49-F238E27FC236}">
                <a16:creationId xmlns:a16="http://schemas.microsoft.com/office/drawing/2014/main" id="{BD652829-E2D9-7E2C-8E4B-65A7C93A2AC6}"/>
              </a:ext>
            </a:extLst>
          </p:cNvPr>
          <p:cNvSpPr>
            <a:spLocks/>
          </p:cNvSpPr>
          <p:nvPr/>
        </p:nvSpPr>
        <p:spPr>
          <a:xfrm>
            <a:off x="10872216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41" name="Text 46">
            <a:extLst>
              <a:ext uri="{FF2B5EF4-FFF2-40B4-BE49-F238E27FC236}">
                <a16:creationId xmlns:a16="http://schemas.microsoft.com/office/drawing/2014/main" id="{C83CE192-2F0F-B8BE-2498-CD83B99523FD}"/>
              </a:ext>
            </a:extLst>
          </p:cNvPr>
          <p:cNvSpPr>
            <a:spLocks/>
          </p:cNvSpPr>
          <p:nvPr/>
        </p:nvSpPr>
        <p:spPr>
          <a:xfrm>
            <a:off x="11064240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42" name="Text 47">
            <a:extLst>
              <a:ext uri="{FF2B5EF4-FFF2-40B4-BE49-F238E27FC236}">
                <a16:creationId xmlns:a16="http://schemas.microsoft.com/office/drawing/2014/main" id="{1274740A-C438-AB30-6B81-74114C84DE69}"/>
              </a:ext>
            </a:extLst>
          </p:cNvPr>
          <p:cNvSpPr>
            <a:spLocks/>
          </p:cNvSpPr>
          <p:nvPr/>
        </p:nvSpPr>
        <p:spPr>
          <a:xfrm>
            <a:off x="11256264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43" name="Text 48">
            <a:extLst>
              <a:ext uri="{FF2B5EF4-FFF2-40B4-BE49-F238E27FC236}">
                <a16:creationId xmlns:a16="http://schemas.microsoft.com/office/drawing/2014/main" id="{540C282A-60DD-9FF7-D728-4B69C887ED47}"/>
              </a:ext>
            </a:extLst>
          </p:cNvPr>
          <p:cNvSpPr>
            <a:spLocks/>
          </p:cNvSpPr>
          <p:nvPr/>
        </p:nvSpPr>
        <p:spPr>
          <a:xfrm>
            <a:off x="11448288" y="2487168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44" name="Text 49">
            <a:extLst>
              <a:ext uri="{FF2B5EF4-FFF2-40B4-BE49-F238E27FC236}">
                <a16:creationId xmlns:a16="http://schemas.microsoft.com/office/drawing/2014/main" id="{81B71897-2A4C-1DC9-2BA7-CFEA33DDC2B4}"/>
              </a:ext>
            </a:extLst>
          </p:cNvPr>
          <p:cNvSpPr>
            <a:spLocks/>
          </p:cNvSpPr>
          <p:nvPr/>
        </p:nvSpPr>
        <p:spPr>
          <a:xfrm>
            <a:off x="7223760" y="287121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Dog</a:t>
            </a:r>
            <a:endParaRPr lang="en-US" sz="1200" dirty="0"/>
          </a:p>
        </p:txBody>
      </p:sp>
      <p:sp>
        <p:nvSpPr>
          <p:cNvPr id="45" name="Text 50">
            <a:extLst>
              <a:ext uri="{FF2B5EF4-FFF2-40B4-BE49-F238E27FC236}">
                <a16:creationId xmlns:a16="http://schemas.microsoft.com/office/drawing/2014/main" id="{364C597C-60B4-9CE5-EFE4-1FEF83BB417D}"/>
              </a:ext>
            </a:extLst>
          </p:cNvPr>
          <p:cNvSpPr>
            <a:spLocks/>
          </p:cNvSpPr>
          <p:nvPr/>
        </p:nvSpPr>
        <p:spPr>
          <a:xfrm>
            <a:off x="8183880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46" name="Text 51">
            <a:extLst>
              <a:ext uri="{FF2B5EF4-FFF2-40B4-BE49-F238E27FC236}">
                <a16:creationId xmlns:a16="http://schemas.microsoft.com/office/drawing/2014/main" id="{CEEC11F6-5F7D-3CB2-66C5-8AF2F117BFB8}"/>
              </a:ext>
            </a:extLst>
          </p:cNvPr>
          <p:cNvSpPr>
            <a:spLocks/>
          </p:cNvSpPr>
          <p:nvPr/>
        </p:nvSpPr>
        <p:spPr>
          <a:xfrm>
            <a:off x="8375904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47" name="Text 52">
            <a:extLst>
              <a:ext uri="{FF2B5EF4-FFF2-40B4-BE49-F238E27FC236}">
                <a16:creationId xmlns:a16="http://schemas.microsoft.com/office/drawing/2014/main" id="{CAA3894D-6D69-9526-56D8-62D817DFFA5E}"/>
              </a:ext>
            </a:extLst>
          </p:cNvPr>
          <p:cNvSpPr>
            <a:spLocks/>
          </p:cNvSpPr>
          <p:nvPr/>
        </p:nvSpPr>
        <p:spPr>
          <a:xfrm>
            <a:off x="8567928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48" name="Text 53">
            <a:extLst>
              <a:ext uri="{FF2B5EF4-FFF2-40B4-BE49-F238E27FC236}">
                <a16:creationId xmlns:a16="http://schemas.microsoft.com/office/drawing/2014/main" id="{5576B5DF-D5FD-7E6D-9325-D3D33CA4430F}"/>
              </a:ext>
            </a:extLst>
          </p:cNvPr>
          <p:cNvSpPr>
            <a:spLocks/>
          </p:cNvSpPr>
          <p:nvPr/>
        </p:nvSpPr>
        <p:spPr>
          <a:xfrm>
            <a:off x="8759952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49" name="Text 54">
            <a:extLst>
              <a:ext uri="{FF2B5EF4-FFF2-40B4-BE49-F238E27FC236}">
                <a16:creationId xmlns:a16="http://schemas.microsoft.com/office/drawing/2014/main" id="{67B190EA-4602-FABC-5259-D9BCAB1A794A}"/>
              </a:ext>
            </a:extLst>
          </p:cNvPr>
          <p:cNvSpPr>
            <a:spLocks/>
          </p:cNvSpPr>
          <p:nvPr/>
        </p:nvSpPr>
        <p:spPr>
          <a:xfrm>
            <a:off x="8951976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50" name="Text 55">
            <a:extLst>
              <a:ext uri="{FF2B5EF4-FFF2-40B4-BE49-F238E27FC236}">
                <a16:creationId xmlns:a16="http://schemas.microsoft.com/office/drawing/2014/main" id="{BBAF552E-C280-0DB2-5DB7-D328DD7D482D}"/>
              </a:ext>
            </a:extLst>
          </p:cNvPr>
          <p:cNvSpPr>
            <a:spLocks/>
          </p:cNvSpPr>
          <p:nvPr/>
        </p:nvSpPr>
        <p:spPr>
          <a:xfrm>
            <a:off x="9144000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51" name="Text 56">
            <a:extLst>
              <a:ext uri="{FF2B5EF4-FFF2-40B4-BE49-F238E27FC236}">
                <a16:creationId xmlns:a16="http://schemas.microsoft.com/office/drawing/2014/main" id="{891B8279-67D8-719C-1593-E69441523AFB}"/>
              </a:ext>
            </a:extLst>
          </p:cNvPr>
          <p:cNvSpPr>
            <a:spLocks/>
          </p:cNvSpPr>
          <p:nvPr/>
        </p:nvSpPr>
        <p:spPr>
          <a:xfrm>
            <a:off x="9336024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52" name="Text 57">
            <a:extLst>
              <a:ext uri="{FF2B5EF4-FFF2-40B4-BE49-F238E27FC236}">
                <a16:creationId xmlns:a16="http://schemas.microsoft.com/office/drawing/2014/main" id="{2DF69F64-4250-54D6-4EB3-0A7001C117E9}"/>
              </a:ext>
            </a:extLst>
          </p:cNvPr>
          <p:cNvSpPr>
            <a:spLocks/>
          </p:cNvSpPr>
          <p:nvPr/>
        </p:nvSpPr>
        <p:spPr>
          <a:xfrm>
            <a:off x="9528048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53" name="Text 58">
            <a:extLst>
              <a:ext uri="{FF2B5EF4-FFF2-40B4-BE49-F238E27FC236}">
                <a16:creationId xmlns:a16="http://schemas.microsoft.com/office/drawing/2014/main" id="{CD617549-5B7C-BCAC-1120-7DAEB3F40760}"/>
              </a:ext>
            </a:extLst>
          </p:cNvPr>
          <p:cNvSpPr>
            <a:spLocks/>
          </p:cNvSpPr>
          <p:nvPr/>
        </p:nvSpPr>
        <p:spPr>
          <a:xfrm>
            <a:off x="9720072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54" name="Text 59">
            <a:extLst>
              <a:ext uri="{FF2B5EF4-FFF2-40B4-BE49-F238E27FC236}">
                <a16:creationId xmlns:a16="http://schemas.microsoft.com/office/drawing/2014/main" id="{C7847B1D-2E04-B9CB-EEF4-D15C2B4727A7}"/>
              </a:ext>
            </a:extLst>
          </p:cNvPr>
          <p:cNvSpPr>
            <a:spLocks/>
          </p:cNvSpPr>
          <p:nvPr/>
        </p:nvSpPr>
        <p:spPr>
          <a:xfrm>
            <a:off x="9912096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55" name="Text 60">
            <a:extLst>
              <a:ext uri="{FF2B5EF4-FFF2-40B4-BE49-F238E27FC236}">
                <a16:creationId xmlns:a16="http://schemas.microsoft.com/office/drawing/2014/main" id="{7B43B922-5406-4120-37ED-7B25C8EA752A}"/>
              </a:ext>
            </a:extLst>
          </p:cNvPr>
          <p:cNvSpPr>
            <a:spLocks/>
          </p:cNvSpPr>
          <p:nvPr/>
        </p:nvSpPr>
        <p:spPr>
          <a:xfrm>
            <a:off x="10104120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56" name="Text 61">
            <a:extLst>
              <a:ext uri="{FF2B5EF4-FFF2-40B4-BE49-F238E27FC236}">
                <a16:creationId xmlns:a16="http://schemas.microsoft.com/office/drawing/2014/main" id="{58CC8B41-1AFD-A093-AEBA-9C88A4E49F0D}"/>
              </a:ext>
            </a:extLst>
          </p:cNvPr>
          <p:cNvSpPr>
            <a:spLocks/>
          </p:cNvSpPr>
          <p:nvPr/>
        </p:nvSpPr>
        <p:spPr>
          <a:xfrm>
            <a:off x="10296144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57" name="Text 62">
            <a:extLst>
              <a:ext uri="{FF2B5EF4-FFF2-40B4-BE49-F238E27FC236}">
                <a16:creationId xmlns:a16="http://schemas.microsoft.com/office/drawing/2014/main" id="{14E0A74E-EB71-7568-1C8B-DA921385DF71}"/>
              </a:ext>
            </a:extLst>
          </p:cNvPr>
          <p:cNvSpPr>
            <a:spLocks/>
          </p:cNvSpPr>
          <p:nvPr/>
        </p:nvSpPr>
        <p:spPr>
          <a:xfrm>
            <a:off x="10488168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58" name="Text 63">
            <a:extLst>
              <a:ext uri="{FF2B5EF4-FFF2-40B4-BE49-F238E27FC236}">
                <a16:creationId xmlns:a16="http://schemas.microsoft.com/office/drawing/2014/main" id="{AF5ABEFC-900E-D198-689E-F8A191ACF9D0}"/>
              </a:ext>
            </a:extLst>
          </p:cNvPr>
          <p:cNvSpPr>
            <a:spLocks/>
          </p:cNvSpPr>
          <p:nvPr/>
        </p:nvSpPr>
        <p:spPr>
          <a:xfrm>
            <a:off x="10680192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59" name="Text 64">
            <a:extLst>
              <a:ext uri="{FF2B5EF4-FFF2-40B4-BE49-F238E27FC236}">
                <a16:creationId xmlns:a16="http://schemas.microsoft.com/office/drawing/2014/main" id="{CBBAE62B-2EF1-2E26-20CC-02E9B927612D}"/>
              </a:ext>
            </a:extLst>
          </p:cNvPr>
          <p:cNvSpPr>
            <a:spLocks/>
          </p:cNvSpPr>
          <p:nvPr/>
        </p:nvSpPr>
        <p:spPr>
          <a:xfrm>
            <a:off x="10872216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60" name="Text 65">
            <a:extLst>
              <a:ext uri="{FF2B5EF4-FFF2-40B4-BE49-F238E27FC236}">
                <a16:creationId xmlns:a16="http://schemas.microsoft.com/office/drawing/2014/main" id="{0019314F-65CD-79AA-1839-2C6F59770028}"/>
              </a:ext>
            </a:extLst>
          </p:cNvPr>
          <p:cNvSpPr>
            <a:spLocks/>
          </p:cNvSpPr>
          <p:nvPr/>
        </p:nvSpPr>
        <p:spPr>
          <a:xfrm>
            <a:off x="11064240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61" name="Text 66">
            <a:extLst>
              <a:ext uri="{FF2B5EF4-FFF2-40B4-BE49-F238E27FC236}">
                <a16:creationId xmlns:a16="http://schemas.microsoft.com/office/drawing/2014/main" id="{1832C477-732D-4032-AEA5-728E012876DB}"/>
              </a:ext>
            </a:extLst>
          </p:cNvPr>
          <p:cNvSpPr>
            <a:spLocks/>
          </p:cNvSpPr>
          <p:nvPr/>
        </p:nvSpPr>
        <p:spPr>
          <a:xfrm>
            <a:off x="11256264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62" name="Text 67">
            <a:extLst>
              <a:ext uri="{FF2B5EF4-FFF2-40B4-BE49-F238E27FC236}">
                <a16:creationId xmlns:a16="http://schemas.microsoft.com/office/drawing/2014/main" id="{3E3FDDC4-D57A-49EF-3D76-681C08A4F565}"/>
              </a:ext>
            </a:extLst>
          </p:cNvPr>
          <p:cNvSpPr>
            <a:spLocks/>
          </p:cNvSpPr>
          <p:nvPr/>
        </p:nvSpPr>
        <p:spPr>
          <a:xfrm>
            <a:off x="11448288" y="2871216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63" name="Text 68">
            <a:extLst>
              <a:ext uri="{FF2B5EF4-FFF2-40B4-BE49-F238E27FC236}">
                <a16:creationId xmlns:a16="http://schemas.microsoft.com/office/drawing/2014/main" id="{083681EC-C54C-BE0F-3BE9-865EFA164F79}"/>
              </a:ext>
            </a:extLst>
          </p:cNvPr>
          <p:cNvSpPr>
            <a:spLocks/>
          </p:cNvSpPr>
          <p:nvPr/>
        </p:nvSpPr>
        <p:spPr>
          <a:xfrm>
            <a:off x="7223760" y="32552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Chimp</a:t>
            </a:r>
            <a:endParaRPr lang="en-US" sz="1200" dirty="0"/>
          </a:p>
        </p:txBody>
      </p:sp>
      <p:sp>
        <p:nvSpPr>
          <p:cNvPr id="64" name="Text 69">
            <a:extLst>
              <a:ext uri="{FF2B5EF4-FFF2-40B4-BE49-F238E27FC236}">
                <a16:creationId xmlns:a16="http://schemas.microsoft.com/office/drawing/2014/main" id="{A875872A-1369-9BF4-70C5-371BD8E04CC7}"/>
              </a:ext>
            </a:extLst>
          </p:cNvPr>
          <p:cNvSpPr>
            <a:spLocks/>
          </p:cNvSpPr>
          <p:nvPr/>
        </p:nvSpPr>
        <p:spPr>
          <a:xfrm>
            <a:off x="8183880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65" name="Text 70">
            <a:extLst>
              <a:ext uri="{FF2B5EF4-FFF2-40B4-BE49-F238E27FC236}">
                <a16:creationId xmlns:a16="http://schemas.microsoft.com/office/drawing/2014/main" id="{CE303BE9-EA25-CB8D-7C54-8251A4CEE488}"/>
              </a:ext>
            </a:extLst>
          </p:cNvPr>
          <p:cNvSpPr>
            <a:spLocks/>
          </p:cNvSpPr>
          <p:nvPr/>
        </p:nvSpPr>
        <p:spPr>
          <a:xfrm>
            <a:off x="8375904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66" name="Text 71">
            <a:extLst>
              <a:ext uri="{FF2B5EF4-FFF2-40B4-BE49-F238E27FC236}">
                <a16:creationId xmlns:a16="http://schemas.microsoft.com/office/drawing/2014/main" id="{BB496D77-579C-422B-4A38-68FB31D86FC9}"/>
              </a:ext>
            </a:extLst>
          </p:cNvPr>
          <p:cNvSpPr>
            <a:spLocks/>
          </p:cNvSpPr>
          <p:nvPr/>
        </p:nvSpPr>
        <p:spPr>
          <a:xfrm>
            <a:off x="8567928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67" name="Text 72">
            <a:extLst>
              <a:ext uri="{FF2B5EF4-FFF2-40B4-BE49-F238E27FC236}">
                <a16:creationId xmlns:a16="http://schemas.microsoft.com/office/drawing/2014/main" id="{DA2A662F-37F3-0EBE-7BE6-44DA729C752C}"/>
              </a:ext>
            </a:extLst>
          </p:cNvPr>
          <p:cNvSpPr>
            <a:spLocks/>
          </p:cNvSpPr>
          <p:nvPr/>
        </p:nvSpPr>
        <p:spPr>
          <a:xfrm>
            <a:off x="8759952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68" name="Text 73">
            <a:extLst>
              <a:ext uri="{FF2B5EF4-FFF2-40B4-BE49-F238E27FC236}">
                <a16:creationId xmlns:a16="http://schemas.microsoft.com/office/drawing/2014/main" id="{39D7E5A6-72FB-72BE-7B7A-48BF9C781416}"/>
              </a:ext>
            </a:extLst>
          </p:cNvPr>
          <p:cNvSpPr>
            <a:spLocks/>
          </p:cNvSpPr>
          <p:nvPr/>
        </p:nvSpPr>
        <p:spPr>
          <a:xfrm>
            <a:off x="8951976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69" name="Text 74">
            <a:extLst>
              <a:ext uri="{FF2B5EF4-FFF2-40B4-BE49-F238E27FC236}">
                <a16:creationId xmlns:a16="http://schemas.microsoft.com/office/drawing/2014/main" id="{A292A27D-3A9C-CD45-58FC-10B75EB24807}"/>
              </a:ext>
            </a:extLst>
          </p:cNvPr>
          <p:cNvSpPr>
            <a:spLocks/>
          </p:cNvSpPr>
          <p:nvPr/>
        </p:nvSpPr>
        <p:spPr>
          <a:xfrm>
            <a:off x="9144000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70" name="Text 75">
            <a:extLst>
              <a:ext uri="{FF2B5EF4-FFF2-40B4-BE49-F238E27FC236}">
                <a16:creationId xmlns:a16="http://schemas.microsoft.com/office/drawing/2014/main" id="{36494CA7-5E69-8B1F-A30D-32E2B7731DDE}"/>
              </a:ext>
            </a:extLst>
          </p:cNvPr>
          <p:cNvSpPr>
            <a:spLocks/>
          </p:cNvSpPr>
          <p:nvPr/>
        </p:nvSpPr>
        <p:spPr>
          <a:xfrm>
            <a:off x="9336024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71" name="Text 76">
            <a:extLst>
              <a:ext uri="{FF2B5EF4-FFF2-40B4-BE49-F238E27FC236}">
                <a16:creationId xmlns:a16="http://schemas.microsoft.com/office/drawing/2014/main" id="{333D5C9A-BCD5-F5A8-E357-1190AF7417EA}"/>
              </a:ext>
            </a:extLst>
          </p:cNvPr>
          <p:cNvSpPr>
            <a:spLocks/>
          </p:cNvSpPr>
          <p:nvPr/>
        </p:nvSpPr>
        <p:spPr>
          <a:xfrm>
            <a:off x="9528048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72" name="Text 77">
            <a:extLst>
              <a:ext uri="{FF2B5EF4-FFF2-40B4-BE49-F238E27FC236}">
                <a16:creationId xmlns:a16="http://schemas.microsoft.com/office/drawing/2014/main" id="{EA30104E-F1A4-60F5-8124-B5CF9FE927B9}"/>
              </a:ext>
            </a:extLst>
          </p:cNvPr>
          <p:cNvSpPr>
            <a:spLocks/>
          </p:cNvSpPr>
          <p:nvPr/>
        </p:nvSpPr>
        <p:spPr>
          <a:xfrm>
            <a:off x="9720072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73" name="Text 78">
            <a:extLst>
              <a:ext uri="{FF2B5EF4-FFF2-40B4-BE49-F238E27FC236}">
                <a16:creationId xmlns:a16="http://schemas.microsoft.com/office/drawing/2014/main" id="{D241D2F2-2B0B-EF46-5BDD-F3C924638EB2}"/>
              </a:ext>
            </a:extLst>
          </p:cNvPr>
          <p:cNvSpPr>
            <a:spLocks/>
          </p:cNvSpPr>
          <p:nvPr/>
        </p:nvSpPr>
        <p:spPr>
          <a:xfrm>
            <a:off x="9912096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74" name="Text 79">
            <a:extLst>
              <a:ext uri="{FF2B5EF4-FFF2-40B4-BE49-F238E27FC236}">
                <a16:creationId xmlns:a16="http://schemas.microsoft.com/office/drawing/2014/main" id="{EC22C7C9-9A06-8EAC-805A-18A3418C573B}"/>
              </a:ext>
            </a:extLst>
          </p:cNvPr>
          <p:cNvSpPr>
            <a:spLocks/>
          </p:cNvSpPr>
          <p:nvPr/>
        </p:nvSpPr>
        <p:spPr>
          <a:xfrm>
            <a:off x="10104120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75" name="Text 80">
            <a:extLst>
              <a:ext uri="{FF2B5EF4-FFF2-40B4-BE49-F238E27FC236}">
                <a16:creationId xmlns:a16="http://schemas.microsoft.com/office/drawing/2014/main" id="{31D3469D-E5E2-8ABF-5A2E-18AC5AAED166}"/>
              </a:ext>
            </a:extLst>
          </p:cNvPr>
          <p:cNvSpPr>
            <a:spLocks/>
          </p:cNvSpPr>
          <p:nvPr/>
        </p:nvSpPr>
        <p:spPr>
          <a:xfrm>
            <a:off x="10296144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76" name="Text 81">
            <a:extLst>
              <a:ext uri="{FF2B5EF4-FFF2-40B4-BE49-F238E27FC236}">
                <a16:creationId xmlns:a16="http://schemas.microsoft.com/office/drawing/2014/main" id="{4398B192-BF43-218B-BDE2-E1F48FE440AA}"/>
              </a:ext>
            </a:extLst>
          </p:cNvPr>
          <p:cNvSpPr>
            <a:spLocks/>
          </p:cNvSpPr>
          <p:nvPr/>
        </p:nvSpPr>
        <p:spPr>
          <a:xfrm>
            <a:off x="10488168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77" name="Text 82">
            <a:extLst>
              <a:ext uri="{FF2B5EF4-FFF2-40B4-BE49-F238E27FC236}">
                <a16:creationId xmlns:a16="http://schemas.microsoft.com/office/drawing/2014/main" id="{A652713C-2E53-D054-8241-A70B260BA175}"/>
              </a:ext>
            </a:extLst>
          </p:cNvPr>
          <p:cNvSpPr>
            <a:spLocks/>
          </p:cNvSpPr>
          <p:nvPr/>
        </p:nvSpPr>
        <p:spPr>
          <a:xfrm>
            <a:off x="10680192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78" name="Text 83">
            <a:extLst>
              <a:ext uri="{FF2B5EF4-FFF2-40B4-BE49-F238E27FC236}">
                <a16:creationId xmlns:a16="http://schemas.microsoft.com/office/drawing/2014/main" id="{2E02A2EE-391F-0EA7-8374-2FEB477F9B2F}"/>
              </a:ext>
            </a:extLst>
          </p:cNvPr>
          <p:cNvSpPr>
            <a:spLocks/>
          </p:cNvSpPr>
          <p:nvPr/>
        </p:nvSpPr>
        <p:spPr>
          <a:xfrm>
            <a:off x="10872216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79" name="Text 84">
            <a:extLst>
              <a:ext uri="{FF2B5EF4-FFF2-40B4-BE49-F238E27FC236}">
                <a16:creationId xmlns:a16="http://schemas.microsoft.com/office/drawing/2014/main" id="{9262B1D1-57B9-033A-C8D7-A90961ED6577}"/>
              </a:ext>
            </a:extLst>
          </p:cNvPr>
          <p:cNvSpPr>
            <a:spLocks/>
          </p:cNvSpPr>
          <p:nvPr/>
        </p:nvSpPr>
        <p:spPr>
          <a:xfrm>
            <a:off x="11064240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80" name="Text 85">
            <a:extLst>
              <a:ext uri="{FF2B5EF4-FFF2-40B4-BE49-F238E27FC236}">
                <a16:creationId xmlns:a16="http://schemas.microsoft.com/office/drawing/2014/main" id="{31FDE8C8-DB90-E827-597C-165C7C0D3B0B}"/>
              </a:ext>
            </a:extLst>
          </p:cNvPr>
          <p:cNvSpPr>
            <a:spLocks/>
          </p:cNvSpPr>
          <p:nvPr/>
        </p:nvSpPr>
        <p:spPr>
          <a:xfrm>
            <a:off x="11256264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81" name="Text 86">
            <a:extLst>
              <a:ext uri="{FF2B5EF4-FFF2-40B4-BE49-F238E27FC236}">
                <a16:creationId xmlns:a16="http://schemas.microsoft.com/office/drawing/2014/main" id="{D3BE9B3E-6FB2-F377-176A-2DFBD533F0D0}"/>
              </a:ext>
            </a:extLst>
          </p:cNvPr>
          <p:cNvSpPr>
            <a:spLocks/>
          </p:cNvSpPr>
          <p:nvPr/>
        </p:nvSpPr>
        <p:spPr>
          <a:xfrm>
            <a:off x="11448288" y="3255264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06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82" name="Text 87">
            <a:extLst>
              <a:ext uri="{FF2B5EF4-FFF2-40B4-BE49-F238E27FC236}">
                <a16:creationId xmlns:a16="http://schemas.microsoft.com/office/drawing/2014/main" id="{C4B8F5C4-6377-B541-3C25-024C595536DA}"/>
              </a:ext>
            </a:extLst>
          </p:cNvPr>
          <p:cNvSpPr>
            <a:spLocks/>
          </p:cNvSpPr>
          <p:nvPr/>
        </p:nvSpPr>
        <p:spPr>
          <a:xfrm>
            <a:off x="7223760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</a:t>
            </a:r>
            <a:endParaRPr lang="en-US" sz="1200" dirty="0"/>
          </a:p>
        </p:txBody>
      </p:sp>
      <p:sp>
        <p:nvSpPr>
          <p:cNvPr id="83" name="Text 88">
            <a:extLst>
              <a:ext uri="{FF2B5EF4-FFF2-40B4-BE49-F238E27FC236}">
                <a16:creationId xmlns:a16="http://schemas.microsoft.com/office/drawing/2014/main" id="{FE5C3258-4CCE-BBED-C488-6CA792A05B86}"/>
              </a:ext>
            </a:extLst>
          </p:cNvPr>
          <p:cNvSpPr>
            <a:spLocks/>
          </p:cNvSpPr>
          <p:nvPr/>
        </p:nvSpPr>
        <p:spPr>
          <a:xfrm>
            <a:off x="8183880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84" name="Text 89">
            <a:extLst>
              <a:ext uri="{FF2B5EF4-FFF2-40B4-BE49-F238E27FC236}">
                <a16:creationId xmlns:a16="http://schemas.microsoft.com/office/drawing/2014/main" id="{6E3A096C-6132-156E-7E14-5ACC9E8F85C0}"/>
              </a:ext>
            </a:extLst>
          </p:cNvPr>
          <p:cNvSpPr>
            <a:spLocks/>
          </p:cNvSpPr>
          <p:nvPr/>
        </p:nvSpPr>
        <p:spPr>
          <a:xfrm>
            <a:off x="8375904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85" name="Text 90">
            <a:extLst>
              <a:ext uri="{FF2B5EF4-FFF2-40B4-BE49-F238E27FC236}">
                <a16:creationId xmlns:a16="http://schemas.microsoft.com/office/drawing/2014/main" id="{112A3317-A012-98C4-F721-1A202DCD9F83}"/>
              </a:ext>
            </a:extLst>
          </p:cNvPr>
          <p:cNvSpPr>
            <a:spLocks/>
          </p:cNvSpPr>
          <p:nvPr/>
        </p:nvSpPr>
        <p:spPr>
          <a:xfrm>
            <a:off x="8567928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86" name="Text 91">
            <a:extLst>
              <a:ext uri="{FF2B5EF4-FFF2-40B4-BE49-F238E27FC236}">
                <a16:creationId xmlns:a16="http://schemas.microsoft.com/office/drawing/2014/main" id="{0F090E7A-EA4A-8ED3-3480-D21045D8D14E}"/>
              </a:ext>
            </a:extLst>
          </p:cNvPr>
          <p:cNvSpPr>
            <a:spLocks/>
          </p:cNvSpPr>
          <p:nvPr/>
        </p:nvSpPr>
        <p:spPr>
          <a:xfrm>
            <a:off x="8759952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87" name="Text 92">
            <a:extLst>
              <a:ext uri="{FF2B5EF4-FFF2-40B4-BE49-F238E27FC236}">
                <a16:creationId xmlns:a16="http://schemas.microsoft.com/office/drawing/2014/main" id="{E8A4A1C6-D394-C273-6201-7CF42ACD41A6}"/>
              </a:ext>
            </a:extLst>
          </p:cNvPr>
          <p:cNvSpPr>
            <a:spLocks/>
          </p:cNvSpPr>
          <p:nvPr/>
        </p:nvSpPr>
        <p:spPr>
          <a:xfrm>
            <a:off x="8951976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88" name="Text 93">
            <a:extLst>
              <a:ext uri="{FF2B5EF4-FFF2-40B4-BE49-F238E27FC236}">
                <a16:creationId xmlns:a16="http://schemas.microsoft.com/office/drawing/2014/main" id="{AF053A44-373F-CF43-9671-0614708D0B62}"/>
              </a:ext>
            </a:extLst>
          </p:cNvPr>
          <p:cNvSpPr>
            <a:spLocks/>
          </p:cNvSpPr>
          <p:nvPr/>
        </p:nvSpPr>
        <p:spPr>
          <a:xfrm>
            <a:off x="9144000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89" name="Text 94">
            <a:extLst>
              <a:ext uri="{FF2B5EF4-FFF2-40B4-BE49-F238E27FC236}">
                <a16:creationId xmlns:a16="http://schemas.microsoft.com/office/drawing/2014/main" id="{0DCAA25D-3D48-2924-649C-711A0485B4A5}"/>
              </a:ext>
            </a:extLst>
          </p:cNvPr>
          <p:cNvSpPr>
            <a:spLocks/>
          </p:cNvSpPr>
          <p:nvPr/>
        </p:nvSpPr>
        <p:spPr>
          <a:xfrm>
            <a:off x="9336024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90" name="Text 95">
            <a:extLst>
              <a:ext uri="{FF2B5EF4-FFF2-40B4-BE49-F238E27FC236}">
                <a16:creationId xmlns:a16="http://schemas.microsoft.com/office/drawing/2014/main" id="{E74284BB-5489-7215-604B-CBA328FFCF47}"/>
              </a:ext>
            </a:extLst>
          </p:cNvPr>
          <p:cNvSpPr>
            <a:spLocks/>
          </p:cNvSpPr>
          <p:nvPr/>
        </p:nvSpPr>
        <p:spPr>
          <a:xfrm>
            <a:off x="9528048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1" name="Text 96">
            <a:extLst>
              <a:ext uri="{FF2B5EF4-FFF2-40B4-BE49-F238E27FC236}">
                <a16:creationId xmlns:a16="http://schemas.microsoft.com/office/drawing/2014/main" id="{767C4694-AF85-8263-22F7-441B56BF7CB8}"/>
              </a:ext>
            </a:extLst>
          </p:cNvPr>
          <p:cNvSpPr>
            <a:spLocks/>
          </p:cNvSpPr>
          <p:nvPr/>
        </p:nvSpPr>
        <p:spPr>
          <a:xfrm>
            <a:off x="9720072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92" name="Text 97">
            <a:extLst>
              <a:ext uri="{FF2B5EF4-FFF2-40B4-BE49-F238E27FC236}">
                <a16:creationId xmlns:a16="http://schemas.microsoft.com/office/drawing/2014/main" id="{99752376-1076-E959-FFF1-778F90CD02EC}"/>
              </a:ext>
            </a:extLst>
          </p:cNvPr>
          <p:cNvSpPr>
            <a:spLocks/>
          </p:cNvSpPr>
          <p:nvPr/>
        </p:nvSpPr>
        <p:spPr>
          <a:xfrm>
            <a:off x="9912096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93" name="Text 98">
            <a:extLst>
              <a:ext uri="{FF2B5EF4-FFF2-40B4-BE49-F238E27FC236}">
                <a16:creationId xmlns:a16="http://schemas.microsoft.com/office/drawing/2014/main" id="{4A03CF55-F493-F738-AC8C-123F673E9E9D}"/>
              </a:ext>
            </a:extLst>
          </p:cNvPr>
          <p:cNvSpPr>
            <a:spLocks/>
          </p:cNvSpPr>
          <p:nvPr/>
        </p:nvSpPr>
        <p:spPr>
          <a:xfrm>
            <a:off x="10104120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94" name="Text 99">
            <a:extLst>
              <a:ext uri="{FF2B5EF4-FFF2-40B4-BE49-F238E27FC236}">
                <a16:creationId xmlns:a16="http://schemas.microsoft.com/office/drawing/2014/main" id="{A630DB8D-BDF4-AEC5-5EA6-CF8752CAA9AF}"/>
              </a:ext>
            </a:extLst>
          </p:cNvPr>
          <p:cNvSpPr>
            <a:spLocks/>
          </p:cNvSpPr>
          <p:nvPr/>
        </p:nvSpPr>
        <p:spPr>
          <a:xfrm>
            <a:off x="10296144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95" name="Text 100">
            <a:extLst>
              <a:ext uri="{FF2B5EF4-FFF2-40B4-BE49-F238E27FC236}">
                <a16:creationId xmlns:a16="http://schemas.microsoft.com/office/drawing/2014/main" id="{46C2907B-D36E-D974-64A7-7AC34B4E93D8}"/>
              </a:ext>
            </a:extLst>
          </p:cNvPr>
          <p:cNvSpPr>
            <a:spLocks/>
          </p:cNvSpPr>
          <p:nvPr/>
        </p:nvSpPr>
        <p:spPr>
          <a:xfrm>
            <a:off x="10488168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300" dirty="0"/>
          </a:p>
        </p:txBody>
      </p:sp>
      <p:sp>
        <p:nvSpPr>
          <p:cNvPr id="96" name="Text 101">
            <a:extLst>
              <a:ext uri="{FF2B5EF4-FFF2-40B4-BE49-F238E27FC236}">
                <a16:creationId xmlns:a16="http://schemas.microsoft.com/office/drawing/2014/main" id="{71D2F78D-6E2C-A79C-74B7-D6BBEBB0C85F}"/>
              </a:ext>
            </a:extLst>
          </p:cNvPr>
          <p:cNvSpPr>
            <a:spLocks/>
          </p:cNvSpPr>
          <p:nvPr/>
        </p:nvSpPr>
        <p:spPr>
          <a:xfrm>
            <a:off x="10680192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97" name="Text 102">
            <a:extLst>
              <a:ext uri="{FF2B5EF4-FFF2-40B4-BE49-F238E27FC236}">
                <a16:creationId xmlns:a16="http://schemas.microsoft.com/office/drawing/2014/main" id="{4EA223BE-BBC7-C7D2-C9AA-5859E51E030B}"/>
              </a:ext>
            </a:extLst>
          </p:cNvPr>
          <p:cNvSpPr>
            <a:spLocks/>
          </p:cNvSpPr>
          <p:nvPr/>
        </p:nvSpPr>
        <p:spPr>
          <a:xfrm>
            <a:off x="10872216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98" name="Text 103">
            <a:extLst>
              <a:ext uri="{FF2B5EF4-FFF2-40B4-BE49-F238E27FC236}">
                <a16:creationId xmlns:a16="http://schemas.microsoft.com/office/drawing/2014/main" id="{5CFD9233-3783-C654-B1B7-0E9AE7C4CDA5}"/>
              </a:ext>
            </a:extLst>
          </p:cNvPr>
          <p:cNvSpPr>
            <a:spLocks/>
          </p:cNvSpPr>
          <p:nvPr/>
        </p:nvSpPr>
        <p:spPr>
          <a:xfrm>
            <a:off x="11064240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300" dirty="0"/>
          </a:p>
        </p:txBody>
      </p:sp>
      <p:sp>
        <p:nvSpPr>
          <p:cNvPr id="99" name="Text 104">
            <a:extLst>
              <a:ext uri="{FF2B5EF4-FFF2-40B4-BE49-F238E27FC236}">
                <a16:creationId xmlns:a16="http://schemas.microsoft.com/office/drawing/2014/main" id="{2CAB3C31-807F-502D-888D-CA0BADDD6B61}"/>
              </a:ext>
            </a:extLst>
          </p:cNvPr>
          <p:cNvSpPr>
            <a:spLocks/>
          </p:cNvSpPr>
          <p:nvPr/>
        </p:nvSpPr>
        <p:spPr>
          <a:xfrm>
            <a:off x="11256264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00" name="Text 105">
            <a:extLst>
              <a:ext uri="{FF2B5EF4-FFF2-40B4-BE49-F238E27FC236}">
                <a16:creationId xmlns:a16="http://schemas.microsoft.com/office/drawing/2014/main" id="{1DD7786A-75BB-A631-7404-CA17448B3E38}"/>
              </a:ext>
            </a:extLst>
          </p:cNvPr>
          <p:cNvSpPr>
            <a:spLocks/>
          </p:cNvSpPr>
          <p:nvPr/>
        </p:nvSpPr>
        <p:spPr>
          <a:xfrm>
            <a:off x="11448288" y="3639312"/>
            <a:ext cx="192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300" dirty="0"/>
          </a:p>
        </p:txBody>
      </p:sp>
      <p:sp>
        <p:nvSpPr>
          <p:cNvPr id="101" name="Shape 106">
            <a:extLst>
              <a:ext uri="{FF2B5EF4-FFF2-40B4-BE49-F238E27FC236}">
                <a16:creationId xmlns:a16="http://schemas.microsoft.com/office/drawing/2014/main" id="{06F1AAF1-84C9-59C6-E121-FBB27AF438BA}"/>
              </a:ext>
            </a:extLst>
          </p:cNvPr>
          <p:cNvSpPr>
            <a:spLocks/>
          </p:cNvSpPr>
          <p:nvPr/>
        </p:nvSpPr>
        <p:spPr>
          <a:xfrm>
            <a:off x="9317736" y="3621024"/>
            <a:ext cx="1188720" cy="420624"/>
          </a:xfrm>
          <a:prstGeom prst="rect">
            <a:avLst/>
          </a:prstGeom>
          <a:ln w="19050">
            <a:solidFill>
              <a:srgbClr val="CC4D4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7">
            <a:extLst>
              <a:ext uri="{FF2B5EF4-FFF2-40B4-BE49-F238E27FC236}">
                <a16:creationId xmlns:a16="http://schemas.microsoft.com/office/drawing/2014/main" id="{B6BFAEEB-FB0D-31D0-D938-46A85B0640EB}"/>
              </a:ext>
            </a:extLst>
          </p:cNvPr>
          <p:cNvSpPr>
            <a:spLocks/>
          </p:cNvSpPr>
          <p:nvPr/>
        </p:nvSpPr>
        <p:spPr>
          <a:xfrm>
            <a:off x="7223760" y="4617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across non-humans (black) — diverged on the human lineage (red).  That mid-window block is what we call a HAR.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77236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663A-E38E-BDD2-1EA6-9C06180B3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Approach</a:t>
            </a:r>
            <a:endParaRPr lang="en-US" sz="360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ABA8B8A2-EEB3-C14A-9B8C-12610DFACB15}"/>
              </a:ext>
            </a:extLst>
          </p:cNvPr>
          <p:cNvSpPr/>
          <p:nvPr/>
        </p:nvSpPr>
        <p:spPr>
          <a:xfrm>
            <a:off x="640080" y="2377440"/>
            <a:ext cx="246888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5FD8468-CE24-4D1F-359E-6A542BA547DA}"/>
              </a:ext>
            </a:extLst>
          </p:cNvPr>
          <p:cNvSpPr/>
          <p:nvPr/>
        </p:nvSpPr>
        <p:spPr>
          <a:xfrm>
            <a:off x="640080" y="2377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77673B6C-DF51-91AA-0313-7E2F72823E8F}"/>
              </a:ext>
            </a:extLst>
          </p:cNvPr>
          <p:cNvSpPr/>
          <p:nvPr/>
        </p:nvSpPr>
        <p:spPr>
          <a:xfrm>
            <a:off x="77724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CC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2,734 HARs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(Doan 2016)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+ 7,473 matched CNEs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(phastCons-derived)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5129BB59-F0E0-328E-94FA-4E22E9396985}"/>
              </a:ext>
            </a:extLst>
          </p:cNvPr>
          <p:cNvSpPr/>
          <p:nvPr/>
        </p:nvSpPr>
        <p:spPr>
          <a:xfrm>
            <a:off x="3520440" y="2377440"/>
            <a:ext cx="246888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CFFB9854-87B7-529C-D14B-92D26ED2729F}"/>
              </a:ext>
            </a:extLst>
          </p:cNvPr>
          <p:cNvSpPr/>
          <p:nvPr/>
        </p:nvSpPr>
        <p:spPr>
          <a:xfrm>
            <a:off x="3520440" y="2377440"/>
            <a:ext cx="24688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09B2121-6C75-45A8-585E-ED9E9C87C3F5}"/>
              </a:ext>
            </a:extLst>
          </p:cNvPr>
          <p:cNvSpPr/>
          <p:nvPr/>
        </p:nvSpPr>
        <p:spPr>
          <a:xfrm>
            <a:off x="6400800" y="2377440"/>
            <a:ext cx="246888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4A05C4A4-6348-DE83-F26B-39E917B644C3}"/>
              </a:ext>
            </a:extLst>
          </p:cNvPr>
          <p:cNvSpPr/>
          <p:nvPr/>
        </p:nvSpPr>
        <p:spPr>
          <a:xfrm>
            <a:off x="6400800" y="2377440"/>
            <a:ext cx="24688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D3A527A-DCB8-2AA9-DE63-FE9441E297C9}"/>
              </a:ext>
            </a:extLst>
          </p:cNvPr>
          <p:cNvSpPr/>
          <p:nvPr/>
        </p:nvSpPr>
        <p:spPr>
          <a:xfrm>
            <a:off x="653796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CV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ABAFF5F7-CB09-1EB8-6236-81ABFA4F4458}"/>
              </a:ext>
            </a:extLst>
          </p:cNvPr>
          <p:cNvSpPr/>
          <p:nvPr/>
        </p:nvSpPr>
        <p:spPr>
          <a:xfrm>
            <a:off x="9281160" y="2377440"/>
            <a:ext cx="233172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97408BD3-EBC2-FBB7-1482-410C2227C089}"/>
              </a:ext>
            </a:extLst>
          </p:cNvPr>
          <p:cNvSpPr/>
          <p:nvPr/>
        </p:nvSpPr>
        <p:spPr>
          <a:xfrm>
            <a:off x="928116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65FA7B49-D92C-ADC2-20F6-674ABD436771}"/>
              </a:ext>
            </a:extLst>
          </p:cNvPr>
          <p:cNvSpPr/>
          <p:nvPr/>
        </p:nvSpPr>
        <p:spPr>
          <a:xfrm rot="5400000">
            <a:off x="3310128" y="2907792"/>
            <a:ext cx="164592" cy="219456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68FBAA19-A13E-1F49-7085-A1357BAAB747}"/>
              </a:ext>
            </a:extLst>
          </p:cNvPr>
          <p:cNvSpPr/>
          <p:nvPr/>
        </p:nvSpPr>
        <p:spPr>
          <a:xfrm>
            <a:off x="6035040" y="3017520"/>
            <a:ext cx="17373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CBF029AD-73DF-835C-0102-BF107750A453}"/>
              </a:ext>
            </a:extLst>
          </p:cNvPr>
          <p:cNvSpPr/>
          <p:nvPr/>
        </p:nvSpPr>
        <p:spPr>
          <a:xfrm>
            <a:off x="8915400" y="3017520"/>
            <a:ext cx="17373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Shape 3">
            <a:extLst>
              <a:ext uri="{FF2B5EF4-FFF2-40B4-BE49-F238E27FC236}">
                <a16:creationId xmlns:a16="http://schemas.microsoft.com/office/drawing/2014/main" id="{5463577D-7BE8-CD66-4A1D-F12DC1D99507}"/>
              </a:ext>
            </a:extLst>
          </p:cNvPr>
          <p:cNvSpPr/>
          <p:nvPr/>
        </p:nvSpPr>
        <p:spPr>
          <a:xfrm>
            <a:off x="640080" y="2377440"/>
            <a:ext cx="246888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6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0B6ED4BF-CF49-B829-F97A-AD08D3AF38D5}"/>
              </a:ext>
            </a:extLst>
          </p:cNvPr>
          <p:cNvSpPr/>
          <p:nvPr/>
        </p:nvSpPr>
        <p:spPr>
          <a:xfrm>
            <a:off x="9281160" y="2386965"/>
            <a:ext cx="233172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kumimoji="0" lang="en-US" sz="1100" b="1" i="0" u="none" strike="noStrike" kern="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0FFFC46C-0A64-B714-DBB6-1042D1EB1F7D}"/>
              </a:ext>
            </a:extLst>
          </p:cNvPr>
          <p:cNvSpPr/>
          <p:nvPr/>
        </p:nvSpPr>
        <p:spPr>
          <a:xfrm>
            <a:off x="9418320" y="272415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CC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(TreeExplainer)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HARE5 case study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Shape 22">
            <a:extLst>
              <a:ext uri="{FF2B5EF4-FFF2-40B4-BE49-F238E27FC236}">
                <a16:creationId xmlns:a16="http://schemas.microsoft.com/office/drawing/2014/main" id="{9C67AD6C-BA61-E434-3A10-48A80691F9FB}"/>
              </a:ext>
            </a:extLst>
          </p:cNvPr>
          <p:cNvSpPr/>
          <p:nvPr/>
        </p:nvSpPr>
        <p:spPr>
          <a:xfrm rot="5400000">
            <a:off x="9070848" y="2907792"/>
            <a:ext cx="164592" cy="219456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C8B43F91-D2B9-E52C-239A-C4BBD414750B}"/>
              </a:ext>
            </a:extLst>
          </p:cNvPr>
          <p:cNvSpPr/>
          <p:nvPr/>
        </p:nvSpPr>
        <p:spPr>
          <a:xfrm rot="5400000">
            <a:off x="6222492" y="2926461"/>
            <a:ext cx="164592" cy="219456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Shape 19">
            <a:extLst>
              <a:ext uri="{FF2B5EF4-FFF2-40B4-BE49-F238E27FC236}">
                <a16:creationId xmlns:a16="http://schemas.microsoft.com/office/drawing/2014/main" id="{AFDD1FEF-8050-E5EE-633C-47583A365D8E}"/>
              </a:ext>
            </a:extLst>
          </p:cNvPr>
          <p:cNvSpPr/>
          <p:nvPr/>
        </p:nvSpPr>
        <p:spPr>
          <a:xfrm>
            <a:off x="3154680" y="3017520"/>
            <a:ext cx="17373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C4041744-39C8-F8F1-92EE-5414822BE9CB}"/>
              </a:ext>
            </a:extLst>
          </p:cNvPr>
          <p:cNvSpPr/>
          <p:nvPr/>
        </p:nvSpPr>
        <p:spPr>
          <a:xfrm>
            <a:off x="3657600" y="2743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per element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· conservation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context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overlap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8F59B497-BD05-F3AB-388F-2FF1E30D1412}"/>
              </a:ext>
            </a:extLst>
          </p:cNvPr>
          <p:cNvSpPr/>
          <p:nvPr/>
        </p:nvSpPr>
        <p:spPr>
          <a:xfrm>
            <a:off x="640080" y="4206240"/>
            <a:ext cx="73152" cy="2103120"/>
          </a:xfrm>
          <a:prstGeom prst="rect">
            <a:avLst/>
          </a:prstGeom>
          <a:solidFill>
            <a:srgbClr val="CC4D4D"/>
          </a:solidFill>
          <a:ln w="12700">
            <a:solidFill>
              <a:srgbClr val="CC4D4D"/>
            </a:solidFill>
            <a:prstDash val="solid"/>
          </a:ln>
        </p:spPr>
        <p:txBody>
          <a:bodyPr/>
          <a:lstStyle/>
          <a:p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E5C76EA1-BEB0-4FB0-950B-E70AA6D2624D}"/>
              </a:ext>
            </a:extLst>
          </p:cNvPr>
          <p:cNvSpPr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CC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matched controls?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39EA76D9-75D6-CF8D-0F6C-96A4BF870BA2}"/>
              </a:ext>
            </a:extLst>
          </p:cNvPr>
          <p:cNvSpPr/>
          <p:nvPr/>
        </p:nvSpPr>
        <p:spPr>
          <a:xfrm>
            <a:off x="914400" y="48006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genome controls would let the model learn the trivial pattern "HARs are short conserved elements."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Instead, we sample CNEs from UCSC phastCons 100-way elements that match each HAR on  </a:t>
            </a: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(±25%)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phastCons (±0.05)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drawn at 3:1 with a ±10 kb buffer around HARs and coding exons excluded.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any signal the classifier finds must be </a:t>
            </a:r>
            <a:r>
              <a:rPr lang="en-US" sz="1400" b="1" dirty="0">
                <a:solidFill>
                  <a:srgbClr val="CC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conservation alone</a:t>
            </a: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71036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266FA-31AC-440D-1A0D-470FF989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Seven features, four categories</a:t>
            </a:r>
            <a:b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corresponds to a specific biological hypothesis about what makes HARs distinctive.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B105CE-7EE1-2E41-9F4F-DDCE167A6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387363"/>
              </p:ext>
            </p:extLst>
          </p:nvPr>
        </p:nvGraphicFramePr>
        <p:xfrm>
          <a:off x="927100" y="1660525"/>
          <a:ext cx="9321801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1850">
                  <a:extLst>
                    <a:ext uri="{9D8B030D-6E8A-4147-A177-3AD203B41FA5}">
                      <a16:colId xmlns:a16="http://schemas.microsoft.com/office/drawing/2014/main" val="881931049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908179130"/>
                    </a:ext>
                  </a:extLst>
                </a:gridCol>
                <a:gridCol w="3848101">
                  <a:extLst>
                    <a:ext uri="{9D8B030D-6E8A-4147-A177-3AD203B41FA5}">
                      <a16:colId xmlns:a16="http://schemas.microsoft.com/office/drawing/2014/main" val="4048205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it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798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B7BA4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GC content  ·  element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HARs unusual at the level of base composition or size?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968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E6BA8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Conservation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phastCons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(100-way)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Captures deep pre-acceleration conservation; included as a sanity check.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96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58A4D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context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Distance to nearest TSS  ·  Distance to nearest brain-expressed TSS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Are HARs preferentially located near genes — and specifically near brain genes?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83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C4D4D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</a:t>
                      </a:r>
                      <a:endParaRPr lang="en-US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Overlaps ENCODE </a:t>
                      </a:r>
                      <a:r>
                        <a:rPr lang="en-US" sz="16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cCRE</a:t>
                      </a:r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 ·  Overlaps fetal-brain enhancer (Roadmap E081/E082)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 HARs sit in annotated regulatory elements, especially developmental brain enhancers?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0774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568229-1675-5883-D3D1-687D7F4BF7B3}"/>
              </a:ext>
            </a:extLst>
          </p:cNvPr>
          <p:cNvSpPr txBox="1"/>
          <p:nvPr/>
        </p:nvSpPr>
        <p:spPr>
          <a:xfrm>
            <a:off x="838200" y="5106085"/>
            <a:ext cx="45434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Brain-expressed =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GTEx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v8 median TPM &gt; 5 in any of 13 brain tissues.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GENCODE v45  ·  ENCODE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cCRE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combined.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Roadmap E081/E082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chromHMM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(active enhancer states 13-15).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E152CBF-73CB-6C2A-38DA-6DE9802BD1BD}"/>
              </a:ext>
            </a:extLst>
          </p:cNvPr>
          <p:cNvSpPr/>
          <p:nvPr/>
        </p:nvSpPr>
        <p:spPr>
          <a:xfrm>
            <a:off x="790702" y="2033588"/>
            <a:ext cx="109728" cy="594360"/>
          </a:xfrm>
          <a:prstGeom prst="rect">
            <a:avLst/>
          </a:prstGeom>
          <a:solidFill>
            <a:srgbClr val="5B7BA4"/>
          </a:solidFill>
          <a:ln w="12700">
            <a:solidFill>
              <a:srgbClr val="5B7B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12">
            <a:extLst>
              <a:ext uri="{FF2B5EF4-FFF2-40B4-BE49-F238E27FC236}">
                <a16:creationId xmlns:a16="http://schemas.microsoft.com/office/drawing/2014/main" id="{A92FA09D-7D6E-F444-B014-464B92154EC8}"/>
              </a:ext>
            </a:extLst>
          </p:cNvPr>
          <p:cNvSpPr/>
          <p:nvPr/>
        </p:nvSpPr>
        <p:spPr>
          <a:xfrm>
            <a:off x="792861" y="2595563"/>
            <a:ext cx="109728" cy="594360"/>
          </a:xfrm>
          <a:prstGeom prst="rect">
            <a:avLst/>
          </a:prstGeom>
          <a:solidFill>
            <a:srgbClr val="7E6BA8"/>
          </a:solidFill>
          <a:ln w="12700">
            <a:solidFill>
              <a:srgbClr val="7E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17">
            <a:extLst>
              <a:ext uri="{FF2B5EF4-FFF2-40B4-BE49-F238E27FC236}">
                <a16:creationId xmlns:a16="http://schemas.microsoft.com/office/drawing/2014/main" id="{F080DC57-9D10-AA31-6CCB-4FEE50704410}"/>
              </a:ext>
            </a:extLst>
          </p:cNvPr>
          <p:cNvSpPr/>
          <p:nvPr/>
        </p:nvSpPr>
        <p:spPr>
          <a:xfrm>
            <a:off x="792861" y="3195638"/>
            <a:ext cx="109728" cy="594360"/>
          </a:xfrm>
          <a:prstGeom prst="rect">
            <a:avLst/>
          </a:prstGeom>
          <a:solidFill>
            <a:srgbClr val="C58A4D"/>
          </a:solidFill>
          <a:ln w="12700">
            <a:solidFill>
              <a:srgbClr val="C58A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22">
            <a:extLst>
              <a:ext uri="{FF2B5EF4-FFF2-40B4-BE49-F238E27FC236}">
                <a16:creationId xmlns:a16="http://schemas.microsoft.com/office/drawing/2014/main" id="{D2127E60-3EF4-C925-170F-1DC88C7F384D}"/>
              </a:ext>
            </a:extLst>
          </p:cNvPr>
          <p:cNvSpPr/>
          <p:nvPr/>
        </p:nvSpPr>
        <p:spPr>
          <a:xfrm>
            <a:off x="790702" y="3757613"/>
            <a:ext cx="109728" cy="822960"/>
          </a:xfrm>
          <a:prstGeom prst="rect">
            <a:avLst/>
          </a:prstGeom>
          <a:solidFill>
            <a:srgbClr val="CC4D4D"/>
          </a:solidFill>
          <a:ln w="12700">
            <a:solidFill>
              <a:srgbClr val="CC4D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53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learned: feature importance ranking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from random forest, refit on all data. Each row = one feature; spread = per-element impact.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build/figs/shap_summa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560799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8039" y="1508760"/>
            <a:ext cx="4305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 ·  what they say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338039" y="1965960"/>
            <a:ext cx="430501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475199" y="216712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75199" y="2167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115279" y="2057400"/>
            <a:ext cx="3390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Mean phastCons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115279" y="2350008"/>
            <a:ext cx="3390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C4D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Lower → HAR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115279" y="2606040"/>
            <a:ext cx="339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Expected: HARs are conserved elements that lost conservation on the human lineage.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338039" y="3017520"/>
            <a:ext cx="430501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475199" y="321868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475199" y="3218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115279" y="3108960"/>
            <a:ext cx="3390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brain TSS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15279" y="3401568"/>
            <a:ext cx="3390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C4D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Farther → HAR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115279" y="3657600"/>
            <a:ext cx="339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Reverses the classic story. We test this on slide 7.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338039" y="4069080"/>
            <a:ext cx="430501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475199" y="427024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475199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115279" y="4160520"/>
            <a:ext cx="3390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GC content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15279" y="4453128"/>
            <a:ext cx="3390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C4D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Higher → HAR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115279" y="4709160"/>
            <a:ext cx="339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Modest sequence-composition shift.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338039" y="5120640"/>
            <a:ext cx="430501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475199" y="5321808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475199" y="5321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115279" y="5212080"/>
            <a:ext cx="3390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Overlaps ENCODE cCRE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115279" y="5504688"/>
            <a:ext cx="3390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C4D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Yes → HAR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115279" y="5760720"/>
            <a:ext cx="3390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27% of HARs overlap a cCRE vs 17% of CNEs — the strongest regulatory signal.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Anchoring the ranking: HARE5 / FZD8 (Boyd 2015)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Does the textbook "functional HAR" sit where the model says HARs should sit?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build/figs/hare5_ca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772" y="1417320"/>
            <a:ext cx="9602151" cy="26908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4382441"/>
            <a:ext cx="3515258" cy="19269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4382441"/>
            <a:ext cx="73152" cy="19269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" y="4519601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800" normalizeH="0" baseline="0" noProof="0" dirty="0">
                <a:ln>
                  <a:noFill/>
                </a:ln>
                <a:solidFill>
                  <a:srgbClr val="D4A01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8680" y="4748201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chr10:35,222,797–35,223,084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68680" y="5342561"/>
            <a:ext cx="3149498" cy="8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Boyd 2015 hg19 coords lifted to hg38. HARE5/2xHAR.238 is absent from the modeled HAR table, so we score it externally with the same feature pipeline.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38218" y="4382441"/>
            <a:ext cx="3515258" cy="19269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338218" y="4382441"/>
            <a:ext cx="73152" cy="19269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66818" y="4519601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800" normalizeH="0" baseline="0" noProof="0" dirty="0">
                <a:ln>
                  <a:noFill/>
                </a:ln>
                <a:solidFill>
                  <a:srgbClr val="D4A01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PHASTCONS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66818" y="4748201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0.05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66818" y="5342561"/>
            <a:ext cx="3149498" cy="8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extreme outlier on the model's #1 feature — exactly where the SHAP ranking predicts a strongly human-accelerated locus should fall.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036357" y="4382441"/>
            <a:ext cx="3515258" cy="1926919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036357" y="4382441"/>
            <a:ext cx="73152" cy="1926919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64957" y="4519601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800" normalizeH="0" baseline="0" noProof="0" dirty="0">
                <a:ln>
                  <a:noFill/>
                </a:ln>
                <a:solidFill>
                  <a:srgbClr val="D4A01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264957" y="4748201"/>
            <a:ext cx="31494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Overlaps an ENCODE cCRE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264957" y="5342561"/>
            <a:ext cx="3149498" cy="8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regulatory-context signal. Boyd's transgenic mouse shows HARE5 enlarges cortex via altered FZD8 expression.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Caveats — and one finding that survives a stress test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Is the reversed brain-TSS proximity an artifact of matching CNEs on conservation? No.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build/figs/sensitiv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08760"/>
            <a:ext cx="5773096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212080"/>
            <a:ext cx="5773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Median distance to brain TSS:  HAR 269 kb  &gt;  Random 173 kb  &gt;  Matched CNE 145 kb.  Mann-Whitney p ≈ 1×10⁻⁹.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78936" y="1508760"/>
            <a:ext cx="4864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Three honest caveats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778936" y="1965960"/>
            <a:ext cx="4864119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phastCons is partly definitional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100-way track includes human, so residual signal reflects the acceleration we're trying to detect.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bias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ENCODE / Roadmap labels are biased toward studied cell types and developmental windows.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Linear distance ≠ regulatory targeting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enhancers can act over Mb-scale 3D contacts (Keough 2023).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78936" y="4617720"/>
            <a:ext cx="4864119" cy="1554480"/>
          </a:xfrm>
          <a:prstGeom prst="rect">
            <a:avLst/>
          </a:prstGeom>
          <a:solidFill>
            <a:srgbClr val="F4F1EA"/>
          </a:solidFill>
          <a:ln w="9525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778936" y="4617720"/>
            <a:ext cx="73152" cy="1554480"/>
          </a:xfrm>
          <a:prstGeom prst="rect">
            <a:avLst/>
          </a:prstGeom>
          <a:solidFill>
            <a:srgbClr val="CC4D4D"/>
          </a:solidFill>
          <a:ln w="12700">
            <a:solidFill>
              <a:srgbClr val="CC4D4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007536" y="4754880"/>
            <a:ext cx="445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600" normalizeH="0" baseline="0" noProof="0" dirty="0">
                <a:ln>
                  <a:noFill/>
                </a:ln>
                <a:solidFill>
                  <a:srgbClr val="CC4D4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TAKEAWAY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007536" y="5074920"/>
            <a:ext cx="44526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HARs are more regulatory-element-like than matched controls, but they sit farther from brain TSSes — even than random length-matched intervals. The simple "near brain genes" story doesn't survive matched-control design. Long-range 3D regulatory contacts become the natural next hypothesis.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8CA4F-C820-0168-A46D-5FB8C1DF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348773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FD07732-D475-6098-F11E-4A191AD1977A}"/>
              </a:ext>
            </a:extLst>
          </p:cNvPr>
          <p:cNvSpPr/>
          <p:nvPr/>
        </p:nvSpPr>
        <p:spPr>
          <a:xfrm>
            <a:off x="838201" y="1514475"/>
            <a:ext cx="838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trained a small interpretable model to distinguish HARs from matched conserved elements, asked it which features mattered, and checked the answer at HARE5.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81FC8E8-847F-EB0B-3099-7AB0A8A4DC7D}"/>
              </a:ext>
            </a:extLst>
          </p:cNvPr>
          <p:cNvSpPr/>
          <p:nvPr/>
        </p:nvSpPr>
        <p:spPr>
          <a:xfrm>
            <a:off x="731520" y="3200400"/>
            <a:ext cx="3454298" cy="1828800"/>
          </a:xfrm>
          <a:prstGeom prst="rect">
            <a:avLst/>
          </a:prstGeom>
          <a:solidFill>
            <a:srgbClr val="1A2454"/>
          </a:solidFill>
          <a:ln w="9525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49B6FF-95A5-02FE-C373-D0CA6F9D62DF}"/>
              </a:ext>
            </a:extLst>
          </p:cNvPr>
          <p:cNvSpPr/>
          <p:nvPr/>
        </p:nvSpPr>
        <p:spPr>
          <a:xfrm>
            <a:off x="914400" y="333756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6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0.78</a:t>
            </a:r>
            <a:endParaRPr lang="en-US" sz="3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7F8387-5F6E-270B-3EAE-6B19F0793E46}"/>
              </a:ext>
            </a:extLst>
          </p:cNvPr>
          <p:cNvSpPr/>
          <p:nvPr/>
        </p:nvSpPr>
        <p:spPr>
          <a:xfrm>
            <a:off x="914400" y="41148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AUROC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88EB0D7-7E7F-28D9-8A8B-A857F38AF614}"/>
              </a:ext>
            </a:extLst>
          </p:cNvPr>
          <p:cNvSpPr/>
          <p:nvPr/>
        </p:nvSpPr>
        <p:spPr>
          <a:xfrm>
            <a:off x="914400" y="443484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CV, modest but well above chance and consistent across folds.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ACA04B0-DC7A-A376-4287-5C4ACDA2F22C}"/>
              </a:ext>
            </a:extLst>
          </p:cNvPr>
          <p:cNvSpPr/>
          <p:nvPr/>
        </p:nvSpPr>
        <p:spPr>
          <a:xfrm>
            <a:off x="4368698" y="3200400"/>
            <a:ext cx="3454298" cy="1828800"/>
          </a:xfrm>
          <a:prstGeom prst="rect">
            <a:avLst/>
          </a:prstGeom>
          <a:solidFill>
            <a:srgbClr val="1A2454"/>
          </a:solidFill>
          <a:ln w="9525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5FD2465-C1D1-C7CF-3D0A-C761935DE8B8}"/>
              </a:ext>
            </a:extLst>
          </p:cNvPr>
          <p:cNvSpPr/>
          <p:nvPr/>
        </p:nvSpPr>
        <p:spPr>
          <a:xfrm>
            <a:off x="4551578" y="333756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6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 vs 17%</a:t>
            </a:r>
            <a:endParaRPr lang="en-US" sz="3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8E4D92-3B8D-966C-0879-8D9DB1362775}"/>
              </a:ext>
            </a:extLst>
          </p:cNvPr>
          <p:cNvSpPr/>
          <p:nvPr/>
        </p:nvSpPr>
        <p:spPr>
          <a:xfrm>
            <a:off x="4551578" y="41148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cCRE overlap, HAR vs CNE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0DBDD9-DA12-2A95-E832-39F41285B09B}"/>
              </a:ext>
            </a:extLst>
          </p:cNvPr>
          <p:cNvSpPr/>
          <p:nvPr/>
        </p:nvSpPr>
        <p:spPr>
          <a:xfrm>
            <a:off x="4551578" y="443484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directional regulatory signal — HARs preferentially overlap annotated cCREs.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D64BF0-8D8B-AE70-E21B-281328C51714}"/>
              </a:ext>
            </a:extLst>
          </p:cNvPr>
          <p:cNvSpPr/>
          <p:nvPr/>
        </p:nvSpPr>
        <p:spPr>
          <a:xfrm>
            <a:off x="8005877" y="3200400"/>
            <a:ext cx="3454298" cy="1828800"/>
          </a:xfrm>
          <a:prstGeom prst="rect">
            <a:avLst/>
          </a:prstGeom>
          <a:solidFill>
            <a:srgbClr val="1A2454"/>
          </a:solidFill>
          <a:ln w="9525">
            <a:solidFill>
              <a:srgbClr val="3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00CFC1-7B60-F44D-7AE3-F80DFA82DA1C}"/>
              </a:ext>
            </a:extLst>
          </p:cNvPr>
          <p:cNvSpPr/>
          <p:nvPr/>
        </p:nvSpPr>
        <p:spPr>
          <a:xfrm>
            <a:off x="8188757" y="3337560"/>
            <a:ext cx="30885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6D8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269 kb</a:t>
            </a:r>
            <a:endParaRPr lang="en-US" sz="3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27CD869-B409-33F3-05A0-FAA1C70B0927}"/>
              </a:ext>
            </a:extLst>
          </p:cNvPr>
          <p:cNvSpPr/>
          <p:nvPr/>
        </p:nvSpPr>
        <p:spPr>
          <a:xfrm>
            <a:off x="8188757" y="4114800"/>
            <a:ext cx="3088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HAR-to-brain-TSS distance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F0424D1-2143-D4A5-411F-C7E5C69A1DB7}"/>
              </a:ext>
            </a:extLst>
          </p:cNvPr>
          <p:cNvSpPr/>
          <p:nvPr/>
        </p:nvSpPr>
        <p:spPr>
          <a:xfrm>
            <a:off x="8188757" y="4434840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9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Farther from brain TSSes than matched CNEs (145 kb) or random (173 kb). The textbook story doesn't survive.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7199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7ACC2-2DA9-C76A-032E-DFFCB2AD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88D66-C525-8E51-DA19-DF425C065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709" y="39957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Acknowledgement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B48A1111-89B6-53AF-5806-EDE898B7FEE8}"/>
              </a:ext>
            </a:extLst>
          </p:cNvPr>
          <p:cNvSpPr/>
          <p:nvPr/>
        </p:nvSpPr>
        <p:spPr>
          <a:xfrm>
            <a:off x="838201" y="1514475"/>
            <a:ext cx="838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FCCAB8-E435-AD3E-7998-3509EA30CCE6}"/>
              </a:ext>
            </a:extLst>
          </p:cNvPr>
          <p:cNvSpPr txBox="1"/>
          <p:nvPr/>
        </p:nvSpPr>
        <p:spPr>
          <a:xfrm>
            <a:off x="730709" y="1383507"/>
            <a:ext cx="108938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relies entirely on publicly available datasets, and I thank the authors that produced and maintain them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HARs: Doan et al. (2016), Cell, Supplemental Table S1.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HARE5 / 2xHAR.238 reference coordinates. Boyd et al. (2015).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genome and conservation tracks. UCSC Genome Browser: hg38 reference assembly.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 annotation. GENCODE v45 </a:t>
            </a:r>
          </a:p>
          <a:p>
            <a:pPr marL="285750" indent="-285750">
              <a:buFontTx/>
              <a:buChar char="-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Regulatory annotation. ENCODE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cCRE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of generative AI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Claude Opus 4.7 (Anthropic) was used as a coding assistant during development of the machine learning pipeline and trouble shooting the data analysis.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idea for the project, the hypothesis, and evaluation strategy are all mine. </a:t>
            </a:r>
          </a:p>
        </p:txBody>
      </p:sp>
    </p:spTree>
    <p:extLst>
      <p:ext uri="{BB962C8B-B14F-4D97-AF65-F5344CB8AC3E}">
        <p14:creationId xmlns:p14="http://schemas.microsoft.com/office/powerpoint/2010/main" val="264314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C106-0ED8-F09F-BD20-D47B89494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D1DBB-A15B-E874-5703-010ECA00B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038725"/>
          </a:xfrm>
        </p:spPr>
        <p:txBody>
          <a:bodyPr>
            <a:normAutofit/>
          </a:bodyPr>
          <a:lstStyle/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Boyd, J. L., Skove, S. L.,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Rouanet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J. P., Pilaz, L. J., Bepler, T.,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Gordân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R., ... &amp; Silver, D. L. (2015). Human-chimpanzee differences in a FZD8 enhancer alter cell-cycle dynamics in the developing neocortex. Current Biology, 25(6), 772-779.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https://www.cell.com/current-biology/fulltext/S0960-9822(15)00073-1?ref=binfind.com%2Fweb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Capra, J. A., Erwin, G. D., McKinsey, G., Rubenstein, J. L., &amp; Pollard, K. S. (2013). Many human accelerated regions are developmental enhancers. 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Philosophical Transactions of the Royal Society B: Biological Sciences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 </a:t>
            </a:r>
            <a:r>
              <a:rPr lang="en-US" sz="12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368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(1632).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https://royalsocietypublishing.org/rstb/article/368/1632/20130025/22332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Cui, X., Yang, H., Cai, C., Beaman, C., Yang, X., Liu, H., ... &amp; Shen, Y. (2025). Comparative characterization of human accelerated regions in neurons. Nature, 640(8060), 991-999. </a:t>
            </a:r>
            <a:r>
              <a:rPr lang="en-US" sz="12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https://www.nature.com/articles/s41586-025-08622-x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Doan, R. N., Bae, B. I.,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Cubelos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B., Chang, C., Hossain, A. A., Al-Saad, S., ... &amp; Walsh, C. A. (2016). Mutations in human accelerated regions disrupt cognition and social behavior. Cell, 167(2), 341-354. </a:t>
            </a:r>
            <a:r>
              <a:rPr lang="en-US" sz="12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https://www.cell.com/cell/fulltext/S0092-8674(16)31169-2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Keough, K. C., Whalen, S., Inoue, F.,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Przytycki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P. F., Fair, T., Deng, C., ... &amp; Pollard, K. S. (2023). Three-dimensional genome rewiring in loci with human accelerated regions. Science, 380(6643), eabm1696. </a:t>
            </a:r>
            <a:r>
              <a:rPr lang="en-US" sz="12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https://www.science.org/doi/abs/10.1126/science.abm1696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Levchenko, A.,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Kanapin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A., Samsonova, A., &amp; </a:t>
            </a:r>
            <a:r>
              <a:rPr lang="en-US" sz="1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Gainetdinov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R. R. (2018). Human accelerated regions and other human-specific sequence variations in the context of evolution and their relevance for brain development. Genome biology and evolution, </a:t>
            </a:r>
            <a:r>
              <a:rPr lang="en-US" sz="12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(1), 166-188. </a:t>
            </a:r>
            <a:r>
              <a:rPr lang="en-US" sz="1200" u="sng" kern="100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https://doi.org/10.1093/gbe/evx240</a:t>
            </a: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57200" marR="0" indent="-45720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Pollard, K. S., Salama, S. R., Lambert, N., Lambot, M. A., Coppens, S., Pedersen, J. S., ... &amp; Haussler, D. (2006). An RNA gene expressed during cortical development evolved rapidly in humans. 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Nature, 443(7108), 167-172. 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https://www.nature.com/articles/nature05113</a:t>
            </a:r>
            <a:r>
              <a:rPr lang="en-US" sz="1200" kern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048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1653</Words>
  <Application>Microsoft Office PowerPoint</Application>
  <PresentationFormat>Widescreen</PresentationFormat>
  <Paragraphs>239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Consolas</vt:lpstr>
      <vt:lpstr>Georgia</vt:lpstr>
      <vt:lpstr>Office Theme</vt:lpstr>
      <vt:lpstr>1_Office Theme</vt:lpstr>
      <vt:lpstr>What makes a HAR a HAR?  Interpretable ML on human-accelerated noncoding regions </vt:lpstr>
      <vt:lpstr>Human Accelerated Regions</vt:lpstr>
      <vt:lpstr>Study Approach</vt:lpstr>
      <vt:lpstr>Seven features, four categories Each feature corresponds to a specific biological hypothesis about what makes HARs distinctive.</vt:lpstr>
      <vt:lpstr>PowerPoint Presentation</vt:lpstr>
      <vt:lpstr>PowerPoint Presentation</vt:lpstr>
      <vt:lpstr>PowerPoint Presentation</vt:lpstr>
      <vt:lpstr>Conclusion</vt:lpstr>
      <vt:lpstr>Acknowledgement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Orkuma</dc:creator>
  <cp:lastModifiedBy>Martin Orkuma</cp:lastModifiedBy>
  <cp:revision>18</cp:revision>
  <dcterms:created xsi:type="dcterms:W3CDTF">2026-04-27T03:39:02Z</dcterms:created>
  <dcterms:modified xsi:type="dcterms:W3CDTF">2026-04-27T06:38:53Z</dcterms:modified>
</cp:coreProperties>
</file>